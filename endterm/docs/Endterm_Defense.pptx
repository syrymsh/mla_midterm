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ba15d14f4df4078" /><Relationship Type="http://schemas.openxmlformats.org/officeDocument/2006/relationships/extended-properties" Target="/docProps/app.xml" Id="Rdde214903f954000" /><Relationship Type="http://schemas.openxmlformats.org/officeDocument/2006/relationships/officeDocument" Target="/ppt/presentation.xml" Id="R5425ea1be1344250" /></Relationships>
</file>

<file path=ppt/presentation.xml><?xml version="1.0" encoding="utf-8"?>
<p:presentation xmlns:p="http://schemas.openxmlformats.org/presentationml/2006/main">
  <p:sldMasterIdLst>
    <p:sldMasterId xmlns:r="http://schemas.openxmlformats.org/officeDocument/2006/relationships" id="2147483648" r:id="R7675716a44a7488d"/>
  </p:sldMasterIdLst>
  <p:notesMasterIdLst>
    <p:notesMasterId xmlns:r="http://schemas.openxmlformats.org/officeDocument/2006/relationships" r:id="R22e7f2792c1645c8"/>
  </p:notesMasterIdLst>
  <p:sldIdLst>
    <p:sldId xmlns:r="http://schemas.openxmlformats.org/officeDocument/2006/relationships" id="256" r:id="R70eb4a7a8abf47ae"/>
    <p:sldId xmlns:r="http://schemas.openxmlformats.org/officeDocument/2006/relationships" id="257" r:id="R9ebfbdbeb0ff4ff7"/>
    <p:sldId xmlns:r="http://schemas.openxmlformats.org/officeDocument/2006/relationships" id="258" r:id="Rc964a5929bc84e00"/>
    <p:sldId xmlns:r="http://schemas.openxmlformats.org/officeDocument/2006/relationships" id="259" r:id="R4c4affb77ced4f22"/>
    <p:sldId xmlns:r="http://schemas.openxmlformats.org/officeDocument/2006/relationships" id="260" r:id="R333de00ba7e94e46"/>
    <p:sldId xmlns:r="http://schemas.openxmlformats.org/officeDocument/2006/relationships" id="261" r:id="Rebecc1dd95a84070"/>
    <p:sldId xmlns:r="http://schemas.openxmlformats.org/officeDocument/2006/relationships" id="262" r:id="R3c1cc85348484b4e"/>
    <p:sldId xmlns:r="http://schemas.openxmlformats.org/officeDocument/2006/relationships" id="263" r:id="Ref9e50ae3b3944d4"/>
    <p:sldId xmlns:r="http://schemas.openxmlformats.org/officeDocument/2006/relationships" id="264" r:id="R048f285e8b4644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e3085502d24f0b" /><Relationship Type="http://schemas.openxmlformats.org/officeDocument/2006/relationships/slideMaster" Target="/ppt/slideMasters/slideMaster1.xml" Id="R7675716a44a7488d" /><Relationship Type="http://schemas.openxmlformats.org/officeDocument/2006/relationships/notesMaster" Target="/ppt/notesMasters/notesMaster1.xml" Id="R22e7f2792c1645c8" /><Relationship Type="http://schemas.openxmlformats.org/officeDocument/2006/relationships/presProps" Target="/ppt/presProps.xml" Id="Rf1da4323b3374894" /><Relationship Type="http://schemas.openxmlformats.org/officeDocument/2006/relationships/tableStyles" Target="/ppt/tableStyles.xml" Id="R46ea5ed0624d4331" /><Relationship Type="http://schemas.openxmlformats.org/officeDocument/2006/relationships/slide" Target="/ppt/slides/slide1.xml" Id="R70eb4a7a8abf47ae" /><Relationship Type="http://schemas.openxmlformats.org/officeDocument/2006/relationships/slide" Target="/ppt/slides/slide2.xml" Id="R9ebfbdbeb0ff4ff7" /><Relationship Type="http://schemas.openxmlformats.org/officeDocument/2006/relationships/slide" Target="/ppt/slides/slide3.xml" Id="Rc964a5929bc84e00" /><Relationship Type="http://schemas.openxmlformats.org/officeDocument/2006/relationships/slide" Target="/ppt/slides/slide4.xml" Id="R4c4affb77ced4f22" /><Relationship Type="http://schemas.openxmlformats.org/officeDocument/2006/relationships/slide" Target="/ppt/slides/slide5.xml" Id="R333de00ba7e94e46" /><Relationship Type="http://schemas.openxmlformats.org/officeDocument/2006/relationships/slide" Target="/ppt/slides/slide6.xml" Id="Rebecc1dd95a84070" /><Relationship Type="http://schemas.openxmlformats.org/officeDocument/2006/relationships/slide" Target="/ppt/slides/slide7.xml" Id="R3c1cc85348484b4e" /><Relationship Type="http://schemas.openxmlformats.org/officeDocument/2006/relationships/slide" Target="/ppt/slides/slide8.xml" Id="Ref9e50ae3b3944d4" /><Relationship Type="http://schemas.openxmlformats.org/officeDocument/2006/relationships/slide" Target="/ppt/slides/slide9.xml" Id="R048f285e8b4644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bd8ade95bf4c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d3b3d34f17441c" /><Relationship Type="http://schemas.openxmlformats.org/officeDocument/2006/relationships/notesMaster" Target="/ppt/notesMasters/notesMaster1.xml" Id="R082ec3e81e9941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8c2921e9984407" /><Relationship Type="http://schemas.openxmlformats.org/officeDocument/2006/relationships/notesMaster" Target="/ppt/notesMasters/notesMaster1.xml" Id="R4837f08d081b4b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b6d42f4c7f4ed9" /><Relationship Type="http://schemas.openxmlformats.org/officeDocument/2006/relationships/notesMaster" Target="/ppt/notesMasters/notesMaster1.xml" Id="Rd394ea6526d544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08fb43098e40f2" /><Relationship Type="http://schemas.openxmlformats.org/officeDocument/2006/relationships/notesMaster" Target="/ppt/notesMasters/notesMaster1.xml" Id="R29cf18f6b96c43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90c333e5884f65" /><Relationship Type="http://schemas.openxmlformats.org/officeDocument/2006/relationships/notesMaster" Target="/ppt/notesMasters/notesMaster1.xml" Id="Re967e083223043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f798565acc44ef" /><Relationship Type="http://schemas.openxmlformats.org/officeDocument/2006/relationships/notesMaster" Target="/ppt/notesMasters/notesMaster1.xml" Id="Rf19a68e9de294c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89333f8a0c418d" /><Relationship Type="http://schemas.openxmlformats.org/officeDocument/2006/relationships/notesMaster" Target="/ppt/notesMasters/notesMaster1.xml" Id="R9c32dbc874da49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3aa0a7ff94478e" /><Relationship Type="http://schemas.openxmlformats.org/officeDocument/2006/relationships/notesMaster" Target="/ppt/notesMasters/notesMaster1.xml" Id="Rda134f8f52e94b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243d088ee941c3" /><Relationship Type="http://schemas.openxmlformats.org/officeDocument/2006/relationships/notesMaster" Target="/ppt/notesMasters/notesMaster1.xml" Id="R933cc20c503943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Syrym, 35 seconds. We predict main-story hours to help players choose games that fit their time budget. We kept the midterm cohort and labels and expanded the metadata. This is retrospective catalog prediction, not a personal playtime guarantee. AI-assisted development is disclosed in docs/CONTRIBUTIONS.md. Sources: reference/Project Guide.pdf; outputs/experiment_manifest.json.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Syrym, 65 seconds. At midterm all prices and tags were absent. We collected additional IGDB metadata and verified explicit Steam app IDs. We used public batched Steam APIs, not title-only guesses. Values are real observations with timestamped raw responses. Prices are current US USD quotes, not historical launch prices. Missing prices stay missing. Sources: data/clean/feature_coverage.csv; data/raw/collection_manifest.json; https://api-docs.igdb.com/; https://api.steampowered.com/IStoreBrowseService/GetItems/v1/.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Syrym, 60 seconds. Target: IGDB hastily seconds divided by 3600, to credits without notable extras. We do not mix HLTB targets. The cohort remains 5,229 games, 4,183 training and 1,046 test. Every numeric imputer, scaler, categorical vocabulary and developer catalog count is fitted inside folds. Short/Long duration tags, descriptions, IDs, normally and completely fields are excluded. We selected models using training CV before new test evaluation. The test was already visible at midterm and is not a fresh independent benchmark. Sources: outputs/experiment_plan.json; src/features.py; data/clean/fixed_split.csv; https://api-docs.igdb.com/#game-time-to-beat.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Yerdaulet, 65 seconds. The bars use the same frozen test rows. Ridge is unchanged across feature groups, and ExtraTrees is also unchanged. This separates feature gains from changing the model. The ablations are prespecified, and we do not select a production model by test MAE. Report both positive and negative gains. Sources: outputs/model_comparison.csv; outputs/paired_bootstrap.json; outputs/experiment_plan.json.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Yerdaulet, 70 seconds. MAE is the average absolute hour error and is the selection metric. CV spread is the sample standard deviation across three training folds, not a confidence interval. We tuned eight gradient-boosting configurations and four neural network configurations, only on training rows. Search scores are not nested CV. Random forests and ExtraTrees model nonlinear interactions. The best expanded candidate was locked before evaluating this test set. Full ablation rows are in the notebook. Sources: outputs/cv_fold_scores.csv; outputs/search/gradient_boosting.csv; outputs/search/neural_network.csv; outputs/model_selection.json.</a:t>
            </a:r>
          </a:p>
          <a:p xmlns:a="http://schemas.openxmlformats.org/drawingml/2006/main">
            <a:r>
              <a:t>The report includes OLS, Ridge, a decision tree and scaled KNN as the Week 3-4 references on the original features. Each has CV spread and test scores. These supplementary references do not change the locked expanded-model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Yerdaulet, 65 seconds. The selected model has average error shown here, compared with the median baseline and the submitted Ridge. A paired bootstrap resamples test games and compares absolute error for the same rows. Its interval is conditional on this cohort, not a guarantee for new games. Long-duration and online-game labels remain difficult. We retained all cases rather than deleting the largest mistakes. Sources: outputs/error_by_duration.csv; outputs/paired_bootstrap.json; outputs/largest_errors.csv; outputs/sensitivity_subsets.csv.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Syrym, 65 seconds. Preprocessing and PCA fit training predictors only. PCA retained 85 percent of predictor variance, not target variance. We compared k=2 through 6 using sampled training silhouette. Completion times were added after fitting to describe clusters, never to choose k. Metadata coverage can drive clusters, so we do not present them as verified game classes. A second initialization checks stability using adjusted Rand index. Sources: outputs/clustering_manifest.json; outputs/cluster_profiles.csv; outputs/pca_variance.csv.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Yerdaulet, 65 seconds. We tested a 32-unit hidden layer and a 64/32-unit network with two L2 penalties, using the same training CV. Inputs are encoded and numeric features standardized. The target is log1p transformed and standardized inside training, then predictions are converted to hours. Early stopping holds back 15 percent of training rows internally. This curve is transformed-target loss, not MAE in hours. A neural network is included as required, but selection follows measured CV performance. Sources: outputs/neural_network_diagnostics.json; outputs/search/neural_network.csv; https://scikit-learn.org/stable/modules/neural_networks_supervised.html.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Both, 50 seconds. State the measured answer, not a claim of perfection. Explain the actual improvement and what remains hard. Current prices and tags do not establish launch-day or causal prediction. At Final, compare description features on the same split, add a local application, and evaluate a new independently collected holdout if feasible. Both students must be ready to explain the full pipeline. Responsibility assignments and AI use are in the contributions document. Sources: outputs/model_comparison.csv; outputs/experiment_manifest.json; reference/Project Guide.pdf; docs/CONTRIBUTIONS.md.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d6168eeb0e41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2804b57f27a4d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adcf5c27a145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b95c1d8547d42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239bd278e7741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fee585c8d547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4D93B4-B5AC-4F3C-B01B-A1630B5A78B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F10D16D-9610-4575-A364-B5FCF7709AA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BCD675A-2B5B-4702-BFE3-D9AF63A7591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C9C970-B0C5-4D32-8AFB-75C5016FFE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EF2E018-18F3-448D-B075-9DBD2B6BF73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7CF594E-5296-4DEA-ADF0-531E78A12B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DBDE13-2899-4636-8544-4BD354A3C3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416BB2-549E-4B23-8D23-2F879AC5688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084BDF-45FA-4B40-9348-83FFEC285C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19FDE4-4005-4FDB-A6F7-A4248767D7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0caa790fea4d57" /><Relationship Type="http://schemas.openxmlformats.org/officeDocument/2006/relationships/slideLayout" Target="/ppt/slideLayouts/slideLayout1.xml" Id="R5a0e35e0c6d84a54" /><Relationship Type="http://schemas.openxmlformats.org/officeDocument/2006/relationships/slideLayout" Target="/ppt/slideLayouts/slideLayout2.xml" Id="R0e525f5cb2d341c4" /><Relationship Type="http://schemas.openxmlformats.org/officeDocument/2006/relationships/slideLayout" Target="/ppt/slideLayouts/slideLayout3.xml" Id="R33655231c4d044b9" /><Relationship Type="http://schemas.openxmlformats.org/officeDocument/2006/relationships/slideLayout" Target="/ppt/slideLayouts/slideLayout4.xml" Id="R88fc2207151c4f5f" /><Relationship Type="http://schemas.openxmlformats.org/officeDocument/2006/relationships/slideLayout" Target="/ppt/slideLayouts/slideLayout5.xml" Id="Rcdf1448602f14d00" /><Relationship Type="http://schemas.openxmlformats.org/officeDocument/2006/relationships/slideLayout" Target="/ppt/slideLayouts/slideLayout6.xml" Id="R60b4f97e252742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0e35e0c6d84a54"/>
    <p:sldLayoutId xmlns:r="http://schemas.openxmlformats.org/officeDocument/2006/relationships" id="2147483650" r:id="R0e525f5cb2d341c4"/>
    <p:sldLayoutId xmlns:r="http://schemas.openxmlformats.org/officeDocument/2006/relationships" id="2147483651" r:id="R33655231c4d044b9"/>
    <p:sldLayoutId xmlns:r="http://schemas.openxmlformats.org/officeDocument/2006/relationships" id="2147483652" r:id="R88fc2207151c4f5f"/>
    <p:sldLayoutId xmlns:r="http://schemas.openxmlformats.org/officeDocument/2006/relationships" id="2147483653" r:id="Rcdf1448602f14d00"/>
    <p:sldLayoutId xmlns:r="http://schemas.openxmlformats.org/officeDocument/2006/relationships" id="2147483654" r:id="R60b4f97e252742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717fdbdc87b4d39" /><Relationship Type="http://schemas.openxmlformats.org/officeDocument/2006/relationships/notesSlide" Target="/ppt/notesSlides/notesSlide1.xml" Id="R0cbdb5907e1d4a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bfce2e875b54804" /><Relationship Type="http://schemas.openxmlformats.org/officeDocument/2006/relationships/chart" Target="/ppt/slides/charts/chart1.xml" Id="R4016fc39ae3e406a" /><Relationship Type="http://schemas.openxmlformats.org/officeDocument/2006/relationships/notesSlide" Target="/ppt/notesSlides/notesSlide2.xml" Id="R512e4c70621047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81ae2248d6a4964" /><Relationship Type="http://schemas.openxmlformats.org/officeDocument/2006/relationships/notesSlide" Target="/ppt/notesSlides/notesSlide3.xml" Id="Rf274b8b3749342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b79640b7e4b4940" /><Relationship Type="http://schemas.openxmlformats.org/officeDocument/2006/relationships/chart" Target="/ppt/slides/charts/chart2.xml" Id="R5a5a6775108d4d30" /><Relationship Type="http://schemas.openxmlformats.org/officeDocument/2006/relationships/notesSlide" Target="/ppt/notesSlides/notesSlide4.xml" Id="R3365908137d04b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24ea59a765442fb" /><Relationship Type="http://schemas.openxmlformats.org/officeDocument/2006/relationships/notesSlide" Target="/ppt/notesSlides/notesSlide5.xml" Id="Rb9ea83313af342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5de644c19fa49e9" /><Relationship Type="http://schemas.openxmlformats.org/officeDocument/2006/relationships/chart" Target="/ppt/slides/charts/chart3.xml" Id="Re17a200709c24b9b" /><Relationship Type="http://schemas.openxmlformats.org/officeDocument/2006/relationships/notesSlide" Target="/ppt/notesSlides/notesSlide6.xml" Id="Rdaa9ad425b374b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62c782658da4a26" /><Relationship Type="http://schemas.openxmlformats.org/officeDocument/2006/relationships/chart" Target="/ppt/slides/charts/chart4.xml" Id="R0c0ce34037ae485b" /><Relationship Type="http://schemas.openxmlformats.org/officeDocument/2006/relationships/notesSlide" Target="/ppt/notesSlides/notesSlide7.xml" Id="R105d94ed95a94a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0f9f6471fd84757" /><Relationship Type="http://schemas.openxmlformats.org/officeDocument/2006/relationships/chart" Target="/ppt/slides/charts/chart5.xml" Id="Rfa6213d9ad16438e" /><Relationship Type="http://schemas.openxmlformats.org/officeDocument/2006/relationships/notesSlide" Target="/ppt/notesSlides/notesSlide8.xml" Id="R290e4c72992848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5d746f8003c48c5" /><Relationship Type="http://schemas.openxmlformats.org/officeDocument/2006/relationships/notesSlide" Target="/ppt/notesSlides/notesSlide9.xml" Id="Rfcc1e8f9e1be481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Midterm</c:v>
          </c:tx>
          <c:spPr>
            <a:solidFill xmlns:a="http://schemas.openxmlformats.org/drawingml/2006/main">
              <a:srgbClr val="778792"/>
            </a:solidFill>
          </c:spPr>
          <c:invertIfNegative val="0"/>
          <c:cat>
            <c:strRef>
              <c:f>'Chart Data'!$A$2:$A$9</c:f>
              <c:strCache>
                <c:ptCount val="8"/>
                <c:pt idx="0">
                  <c:v>Release year</c:v>
                </c:pt>
                <c:pt idx="1">
                  <c:v>Genres</c:v>
                </c:pt>
                <c:pt idx="2">
                  <c:v>Gameplay themes</c:v>
                </c:pt>
                <c:pt idx="3">
                  <c:v>Gameplay keywords</c:v>
                </c:pt>
                <c:pt idx="4">
                  <c:v>Player perspectives</c:v>
                </c:pt>
                <c:pt idx="5">
                  <c:v>Game modes</c:v>
                </c:pt>
                <c:pt idx="6">
                  <c:v>Steam user tags</c:v>
                </c:pt>
                <c:pt idx="7">
                  <c:v>USD regular price</c:v>
                </c:pt>
              </c:strCache>
            </c:strRef>
          </c:cat>
          <c:val>
            <c:numRef>
              <c:f>'Chart Data'!$B$2:$B$9</c:f>
              <c:numCache>
                <c:formatCode>0</c:formatCode>
                <c:ptCount val="8"/>
                <c:pt idx="0">
                  <c:v>99.961752</c:v>
                </c:pt>
                <c:pt idx="1">
                  <c:v>98.470071</c:v>
                </c:pt>
                <c:pt idx="2">
                  <c:v>0</c:v>
                </c:pt>
                <c:pt idx="3">
                  <c:v>0</c:v>
                </c:pt>
                <c:pt idx="4">
                  <c:v>0</c:v>
                </c:pt>
                <c:pt idx="5">
                  <c:v>0</c:v>
                </c:pt>
                <c:pt idx="6">
                  <c:v>0</c:v>
                </c:pt>
                <c:pt idx="7">
                  <c:v>0</c:v>
                </c:pt>
              </c:numCache>
            </c:numRef>
          </c:val>
        </c:ser>
        <c:ser>
          <c:idx val="1"/>
          <c:order val="1"/>
          <c:tx>
            <c:v>Endterm</c:v>
          </c:tx>
          <c:spPr>
            <a:solidFill xmlns:a="http://schemas.openxmlformats.org/drawingml/2006/main">
              <a:srgbClr val="176B68"/>
            </a:solidFill>
          </c:spPr>
          <c:invertIfNegative val="0"/>
          <c:cat>
            <c:strRef>
              <c:f>'Chart Data'!$C$2:$C$9</c:f>
              <c:strCache>
                <c:ptCount val="8"/>
                <c:pt idx="0">
                  <c:v>Release year</c:v>
                </c:pt>
                <c:pt idx="1">
                  <c:v>Genres</c:v>
                </c:pt>
                <c:pt idx="2">
                  <c:v>Gameplay themes</c:v>
                </c:pt>
                <c:pt idx="3">
                  <c:v>Gameplay keywords</c:v>
                </c:pt>
                <c:pt idx="4">
                  <c:v>Player perspectives</c:v>
                </c:pt>
                <c:pt idx="5">
                  <c:v>Game modes</c:v>
                </c:pt>
                <c:pt idx="6">
                  <c:v>Steam user tags</c:v>
                </c:pt>
                <c:pt idx="7">
                  <c:v>USD regular price</c:v>
                </c:pt>
              </c:strCache>
            </c:strRef>
          </c:cat>
          <c:val>
            <c:numRef>
              <c:f>'Chart Data'!$D$2:$D$9</c:f>
              <c:numCache>
                <c:formatCode>0</c:formatCode>
                <c:ptCount val="8"/>
                <c:pt idx="0">
                  <c:v>99.961752</c:v>
                </c:pt>
                <c:pt idx="1">
                  <c:v>98.470071</c:v>
                </c:pt>
                <c:pt idx="2">
                  <c:v>90.820425</c:v>
                </c:pt>
                <c:pt idx="3">
                  <c:v>78.294129</c:v>
                </c:pt>
                <c:pt idx="4">
                  <c:v>88.946261</c:v>
                </c:pt>
                <c:pt idx="5">
                  <c:v>97.379996</c:v>
                </c:pt>
                <c:pt idx="6">
                  <c:v>63.740677</c:v>
                </c:pt>
                <c:pt idx="7">
                  <c:v>54.714094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43C"/>
                </a:solidFill>
                <a:latin typeface="Arial"/>
                <a:ea typeface="Arial"/>
                <a:cs typeface="Arial"/>
              </a:defRPr>
            </a:pPr>
          </a:p>
        </c:txPr>
        <c:crossAx val="48672768"/>
      </c:catAx>
      <c:valAx>
        <c:axId val="48672768"/>
        <c:scaling>
          <c:orientation val="minMax"/>
          <c:max val="100"/>
          <c:min val="0"/>
        </c:scaling>
        <c:delete val="0"/>
        <c:axPos val="b"/>
        <c:majorGridlines>
          <c:spPr>
            <a:ln xmlns:a="http://schemas.openxmlformats.org/drawingml/2006/main" w="5715">
              <a:solidFill>
                <a:srgbClr val="E4EAE9"/>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17343C"/>
                    </a:solidFill>
                    <a:latin typeface="Arial"/>
                    <a:ea typeface="Arial"/>
                    <a:cs typeface="Arial"/>
                  </a:rPr>
                  <a:t>Observed coverage (%)</a:t>
                </a:r>
              </a:p>
            </c:rich>
          </c:tx>
          <c:overlay val="0"/>
          <c:txPr>
            <a:bodyPr xmlns:a="http://schemas.openxmlformats.org/drawingml/2006/main" anchorCtr="1"/>
            <a:lstStyle xmlns:a="http://schemas.openxmlformats.org/drawingml/2006/main"/>
            <a:p xmlns:a="http://schemas.openxmlformats.org/drawingml/2006/main">
              <a:pPr>
                <a:defRPr sz="1650">
                  <a:solidFill>
                    <a:srgbClr val="17343C"/>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43C"/>
                </a:solidFill>
                <a:latin typeface="Arial"/>
                <a:ea typeface="Arial"/>
                <a:cs typeface="Arial"/>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7343C"/>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Ridge</c:v>
          </c:tx>
          <c:spPr>
            <a:solidFill xmlns:a="http://schemas.openxmlformats.org/drawingml/2006/main">
              <a:srgbClr val="176B68"/>
            </a:solidFill>
          </c:spPr>
          <c:invertIfNegative val="0"/>
          <c:cat>
            <c:strRef>
              <c:f>'Chart Data'!$A$2:$A$4</c:f>
              <c:strCache>
                <c:ptCount val="3"/>
                <c:pt idx="0">
                  <c:v>Original features</c:v>
                </c:pt>
                <c:pt idx="1">
                  <c:v>Expanded IGDB</c:v>
                </c:pt>
                <c:pt idx="2">
                  <c:v>IGDB + Steam</c:v>
                </c:pt>
              </c:strCache>
            </c:strRef>
          </c:cat>
          <c:val>
            <c:numRef>
              <c:f>'Chart Data'!$B$2:$B$4</c:f>
              <c:numCache>
                <c:formatCode>General</c:formatCode>
                <c:ptCount val="3"/>
                <c:pt idx="0">
                  <c:v>11.81296</c:v>
                </c:pt>
                <c:pt idx="1">
                  <c:v>10.687854</c:v>
                </c:pt>
                <c:pt idx="2">
                  <c:v>10.7054</c:v>
                </c:pt>
              </c:numCache>
            </c:numRef>
          </c:val>
        </c:ser>
        <c:ser>
          <c:idx val="1"/>
          <c:order val="1"/>
          <c:tx>
            <c:v>ExtraTrees</c:v>
          </c:tx>
          <c:spPr>
            <a:solidFill xmlns:a="http://schemas.openxmlformats.org/drawingml/2006/main">
              <a:srgbClr val="B66A3D"/>
            </a:solidFill>
          </c:spPr>
          <c:invertIfNegative val="0"/>
          <c:cat>
            <c:strRef>
              <c:f>'Chart Data'!$C$2:$C$4</c:f>
              <c:strCache>
                <c:ptCount val="3"/>
                <c:pt idx="0">
                  <c:v>Original features</c:v>
                </c:pt>
                <c:pt idx="1">
                  <c:v>Expanded IGDB</c:v>
                </c:pt>
                <c:pt idx="2">
                  <c:v>IGDB + Steam</c:v>
                </c:pt>
              </c:strCache>
            </c:strRef>
          </c:cat>
          <c:val>
            <c:numRef>
              <c:f>'Chart Data'!$D$2:$D$4</c:f>
              <c:numCache>
                <c:formatCode>General</c:formatCode>
                <c:ptCount val="3"/>
                <c:pt idx="0">
                  <c:v>11.702313</c:v>
                </c:pt>
                <c:pt idx="1">
                  <c:v>10.821962</c:v>
                </c:pt>
                <c:pt idx="2">
                  <c:v>10.488567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1734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343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5715">
              <a:solidFill>
                <a:srgbClr val="E4EAE9"/>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17343C"/>
                    </a:solidFill>
                    <a:latin typeface="Arial"/>
                    <a:ea typeface="Arial"/>
                    <a:cs typeface="Arial"/>
                  </a:rPr>
                  <a:t>Frozen-test MAE (hours)</a:t>
                </a:r>
              </a:p>
            </c:rich>
          </c:tx>
          <c:overlay val="0"/>
          <c:txPr>
            <a:bodyPr xmlns:a="http://schemas.openxmlformats.org/drawingml/2006/main" anchorCtr="1"/>
            <a:lstStyle xmlns:a="http://schemas.openxmlformats.org/drawingml/2006/main"/>
            <a:p xmlns:a="http://schemas.openxmlformats.org/drawingml/2006/main">
              <a:pPr>
                <a:defRPr sz="1650">
                  <a:solidFill>
                    <a:srgbClr val="17343C"/>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43C"/>
                </a:solidFill>
                <a:latin typeface="Arial"/>
                <a:ea typeface="Arial"/>
                <a:cs typeface="Arial"/>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7343C"/>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varyColors val="0"/>
        <c:ser>
          <c:idx val="0"/>
          <c:order val="0"/>
          <c:tx>
            <c:v>MAE</c:v>
          </c:tx>
          <c:spPr>
            <a:solidFill xmlns:a="http://schemas.openxmlformats.org/drawingml/2006/main">
              <a:srgbClr val="B66A3D"/>
            </a:solidFill>
          </c:spPr>
          <c:invertIfNegative val="0"/>
          <c:cat>
            <c:strRef>
              <c:f>'Chart Data'!$A$2:$A$6</c:f>
              <c:strCache>
                <c:ptCount val="5"/>
                <c:pt idx="0">
                  <c:v>0-5 h</c:v>
                </c:pt>
                <c:pt idx="1">
                  <c:v>&gt;5-20 h</c:v>
                </c:pt>
                <c:pt idx="2">
                  <c:v>&gt;20-50 h</c:v>
                </c:pt>
                <c:pt idx="3">
                  <c:v>&gt;50-100 h</c:v>
                </c:pt>
                <c:pt idx="4">
                  <c:v>&gt;100 h</c:v>
                </c:pt>
              </c:strCache>
            </c:strRef>
          </c:cat>
          <c:val>
            <c:numRef>
              <c:f>'Chart Data'!$B$2:$B$6</c:f>
              <c:numCache>
                <c:formatCode>General</c:formatCode>
                <c:ptCount val="5"/>
                <c:pt idx="0">
                  <c:v>1.907157</c:v>
                </c:pt>
                <c:pt idx="1">
                  <c:v>4.137399</c:v>
                </c:pt>
                <c:pt idx="2">
                  <c:v>14.699577</c:v>
                </c:pt>
                <c:pt idx="3">
                  <c:v>57.286229</c:v>
                </c:pt>
                <c:pt idx="4">
                  <c:v>373.858962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17343C"/>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343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5715">
              <a:solidFill>
                <a:srgbClr val="E4EAE9"/>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17343C"/>
                    </a:solidFill>
                    <a:latin typeface="Arial"/>
                    <a:ea typeface="Arial"/>
                    <a:cs typeface="Arial"/>
                  </a:rPr>
                  <a:t>MAE by actual duration (hours)</a:t>
                </a:r>
              </a:p>
            </c:rich>
          </c:tx>
          <c:overlay val="0"/>
          <c:txPr>
            <a:bodyPr xmlns:a="http://schemas.openxmlformats.org/drawingml/2006/main" anchorCtr="1"/>
            <a:lstStyle xmlns:a="http://schemas.openxmlformats.org/drawingml/2006/main"/>
            <a:p xmlns:a="http://schemas.openxmlformats.org/drawingml/2006/main">
              <a:pPr>
                <a:defRPr sz="1650">
                  <a:solidFill>
                    <a:srgbClr val="17343C"/>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43C"/>
                </a:solidFill>
                <a:latin typeface="Arial"/>
                <a:ea typeface="Arial"/>
                <a:cs typeface="Arial"/>
              </a:defRPr>
            </a:pPr>
          </a:p>
        </c:txPr>
        <c:crossAx val="48650112"/>
        <c:crossBetween val="between"/>
      </c:valAx>
      <c:spPr>
        <a:noFill xmlns:a="http://schemas.openxmlformats.org/drawingml/2006/mai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Silhouette</c:v>
          </c:tx>
          <c:spPr>
            <a:ln xmlns:a="http://schemas.openxmlformats.org/drawingml/2006/main" w="28575">
              <a:solidFill>
                <a:srgbClr val="176B68"/>
              </a:solidFill>
            </a:ln>
          </c:spPr>
          <c:marker>
            <c:symbol val="circle"/>
            <c:size val="7"/>
            <c:spPr>
              <a:solidFill xmlns:a="http://schemas.openxmlformats.org/drawingml/2006/main">
                <a:srgbClr val="176B68"/>
              </a:solidFill>
            </c:spPr>
          </c:marker>
          <c:cat>
            <c:numRef>
              <c:f>'Chart Data'!$A$2:$A$6</c:f>
              <c:numCache>
                <c:formatCode>General</c:formatCode>
                <c:ptCount val="5"/>
                <c:pt idx="0">
                  <c:v>2</c:v>
                </c:pt>
                <c:pt idx="1">
                  <c:v>3</c:v>
                </c:pt>
                <c:pt idx="2">
                  <c:v>4</c:v>
                </c:pt>
                <c:pt idx="3">
                  <c:v>5</c:v>
                </c:pt>
                <c:pt idx="4">
                  <c:v>6</c:v>
                </c:pt>
              </c:numCache>
            </c:numRef>
          </c:cat>
          <c:val>
            <c:numRef>
              <c:f>'Chart Data'!$B$2:$B$6</c:f>
              <c:numCache>
                <c:formatCode>General</c:formatCode>
                <c:ptCount val="5"/>
                <c:pt idx="0">
                  <c:v>0.075289</c:v>
                </c:pt>
                <c:pt idx="1">
                  <c:v>0.068699</c:v>
                </c:pt>
                <c:pt idx="2">
                  <c:v>0.07091</c:v>
                </c:pt>
                <c:pt idx="3">
                  <c:v>0.07517</c:v>
                </c:pt>
                <c:pt idx="4">
                  <c:v>0.078254</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majorGridlines>
          <c:spPr>
            <a:ln xmlns:a="http://schemas.openxmlformats.org/drawingml/2006/main" w="5715">
              <a:solidFill>
                <a:srgbClr val="E4EAE9"/>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17343C"/>
                    </a:solidFill>
                    <a:latin typeface="Arial"/>
                    <a:ea typeface="Arial"/>
                    <a:cs typeface="Arial"/>
                  </a:rPr>
                  <a:t>Number of clusters k</a:t>
                </a:r>
              </a:p>
            </c:rich>
          </c:tx>
          <c:overlay val="0"/>
          <c:txPr>
            <a:bodyPr xmlns:a="http://schemas.openxmlformats.org/drawingml/2006/main" anchorCtr="1"/>
            <a:lstStyle xmlns:a="http://schemas.openxmlformats.org/drawingml/2006/main"/>
            <a:p xmlns:a="http://schemas.openxmlformats.org/drawingml/2006/main">
              <a:pPr>
                <a:defRPr sz="1650">
                  <a:solidFill>
                    <a:srgbClr val="17343C"/>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43C"/>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5715">
              <a:solidFill>
                <a:srgbClr val="E4EAE9"/>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17343C"/>
                    </a:solidFill>
                    <a:latin typeface="Arial"/>
                    <a:ea typeface="Arial"/>
                    <a:cs typeface="Arial"/>
                  </a:rPr>
                  <a:t>Sampled training silhouette</a:t>
                </a:r>
              </a:p>
            </c:rich>
          </c:tx>
          <c:overlay val="0"/>
          <c:txPr>
            <a:bodyPr xmlns:a="http://schemas.openxmlformats.org/drawingml/2006/main" anchorCtr="1"/>
            <a:lstStyle xmlns:a="http://schemas.openxmlformats.org/drawingml/2006/main"/>
            <a:p xmlns:a="http://schemas.openxmlformats.org/drawingml/2006/main">
              <a:pPr>
                <a:defRPr sz="1650">
                  <a:solidFill>
                    <a:srgbClr val="17343C"/>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43C"/>
                </a:solidFill>
                <a:latin typeface="Arial"/>
                <a:ea typeface="Arial"/>
                <a:cs typeface="Arial"/>
              </a:defRPr>
            </a:pPr>
          </a:p>
        </c:txPr>
        <c:crossAx val="48650112"/>
        <c:crossBetween val="between"/>
      </c:valAx>
      <c:spPr>
        <a:noFill xmlns:a="http://schemas.openxmlformats.org/drawingml/2006/mai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varyColors val="0"/>
        <c:ser>
          <c:idx val="0"/>
          <c:order val="0"/>
          <c:tx>
            <c:v>Training loss</c:v>
          </c:tx>
          <c:spPr>
            <a:ln xmlns:a="http://schemas.openxmlformats.org/drawingml/2006/main" w="19050">
              <a:solidFill>
                <a:srgbClr val="176B68"/>
              </a:solidFill>
            </a:ln>
          </c:spPr>
          <c:marker>
            <c:symbol val="none"/>
          </c:marker>
          <c:xVal>
            <c:numRef>
              <c:f>'Chart Data'!$A$2:$A$10</c:f>
              <c:numCache>
                <c:formatCode>General</c:formatCode>
                <c:ptCount val="9"/>
                <c:pt idx="0">
                  <c:v>1</c:v>
                </c:pt>
                <c:pt idx="1">
                  <c:v>5</c:v>
                </c:pt>
                <c:pt idx="2">
                  <c:v>9</c:v>
                </c:pt>
                <c:pt idx="3">
                  <c:v>13</c:v>
                </c:pt>
                <c:pt idx="4">
                  <c:v>17</c:v>
                </c:pt>
                <c:pt idx="5">
                  <c:v>21</c:v>
                </c:pt>
                <c:pt idx="6">
                  <c:v>25</c:v>
                </c:pt>
                <c:pt idx="7">
                  <c:v>29</c:v>
                </c:pt>
                <c:pt idx="8">
                  <c:v>30</c:v>
                </c:pt>
              </c:numCache>
            </c:numRef>
          </c:xVal>
          <c:yVal>
            <c:numRef>
              <c:f>'Chart Data'!$B$2:$B$10</c:f>
              <c:numCache>
                <c:formatCode>General</c:formatCode>
                <c:ptCount val="9"/>
                <c:pt idx="0">
                  <c:v>0.440288</c:v>
                </c:pt>
                <c:pt idx="1">
                  <c:v>0.246761</c:v>
                </c:pt>
                <c:pt idx="2">
                  <c:v>0.187545</c:v>
                </c:pt>
                <c:pt idx="3">
                  <c:v>0.151004</c:v>
                </c:pt>
                <c:pt idx="4">
                  <c:v>0.121034</c:v>
                </c:pt>
                <c:pt idx="5">
                  <c:v>0.098401</c:v>
                </c:pt>
                <c:pt idx="6">
                  <c:v>0.087557</c:v>
                </c:pt>
                <c:pt idx="7">
                  <c:v>0.073613</c:v>
                </c:pt>
                <c:pt idx="8">
                  <c:v>0.069623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5715">
              <a:solidFill>
                <a:srgbClr val="E4EAE9"/>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17343C"/>
                    </a:solidFill>
                    <a:latin typeface="Arial"/>
                    <a:ea typeface="Arial"/>
                    <a:cs typeface="Arial"/>
                  </a:rPr>
                  <a:t>Loss in standardized log-target space</a:t>
                </a:r>
              </a:p>
            </c:rich>
          </c:tx>
          <c:overlay val="0"/>
          <c:txPr>
            <a:bodyPr xmlns:a="http://schemas.openxmlformats.org/drawingml/2006/main" anchorCtr="1"/>
            <a:lstStyle xmlns:a="http://schemas.openxmlformats.org/drawingml/2006/main"/>
            <a:p xmlns:a="http://schemas.openxmlformats.org/drawingml/2006/main">
              <a:pPr>
                <a:defRPr sz="1650">
                  <a:solidFill>
                    <a:srgbClr val="17343C"/>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43C"/>
                </a:solidFill>
                <a:latin typeface="Arial"/>
                <a:ea typeface="Arial"/>
                <a:cs typeface="Arial"/>
              </a:defRPr>
            </a:pPr>
          </a:p>
        </c:txPr>
        <c:crossAx val="48650112"/>
      </c:valAx>
      <c:valAx>
        <c:axId val="48650112"/>
        <c:scaling>
          <c:orientation val="minMax"/>
          <c:max val="30"/>
          <c:min val="0"/>
        </c:scaling>
        <c:delete val="0"/>
        <c:axPos val="b"/>
        <c:majorGridlines>
          <c:spPr>
            <a:ln xmlns:a="http://schemas.openxmlformats.org/drawingml/2006/main" w="5715">
              <a:solidFill>
                <a:srgbClr val="E4EAE9"/>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17343C"/>
                    </a:solidFill>
                    <a:latin typeface="Arial"/>
                    <a:ea typeface="Arial"/>
                    <a:cs typeface="Arial"/>
                  </a:rPr>
                  <a:t>Training iteration</a:t>
                </a:r>
              </a:p>
            </c:rich>
          </c:tx>
          <c:overlay val="0"/>
          <c:txPr>
            <a:bodyPr xmlns:a="http://schemas.openxmlformats.org/drawingml/2006/main" anchorCtr="1"/>
            <a:lstStyle xmlns:a="http://schemas.openxmlformats.org/drawingml/2006/main"/>
            <a:p xmlns:a="http://schemas.openxmlformats.org/drawingml/2006/main">
              <a:pPr>
                <a:defRPr sz="1650">
                  <a:solidFill>
                    <a:srgbClr val="17343C"/>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43C"/>
                </a:solidFill>
                <a:latin typeface="Arial"/>
                <a:ea typeface="Arial"/>
                <a:cs typeface="Arial"/>
              </a:defRPr>
            </a:pPr>
          </a:p>
        </c:txPr>
        <c:crossAx val="48672768"/>
        <c:majorUnit val="5"/>
      </c:valAx>
      <c:spPr>
        <a:noFill xmlns:a="http://schemas.openxmlformats.org/drawingml/2006/mai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43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B47B3A-284F-4F7C-8331-22591A04741C}"/>
              </a:ext>
            </a:extLst>
          </p:cNvPr>
          <p:cNvSpPr>
            <a:spLocks xmlns:a="http://schemas.openxmlformats.org/drawingml/2006/main" noGrp="1"/>
          </p:cNvSpPr>
          <p:nvPr/>
        </p:nvSpPr>
        <p:spPr>
          <a:xfrm xmlns:a="http://schemas.openxmlformats.org/drawingml/2006/main">
            <a:off x="685800" y="125730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FFFFF"/>
                </a:solidFill>
                <a:latin typeface="Arial"/>
                <a:ea typeface="Arial"/>
                <a:cs typeface="Arial"/>
              </a:defRPr>
            </a:defPPr>
            <a:lvl1pPr>
              <a:buNone/>
              <a:defRPr sz="4950" b="1">
                <a:solidFill>
                  <a:srgbClr val="FFFFFF"/>
                </a:solidFill>
                <a:latin typeface="Arial"/>
                <a:ea typeface="Arial"/>
                <a:cs typeface="Arial"/>
              </a:defRPr>
            </a:lvl1pPr>
            <a:lvl2pPr>
              <a:buNone/>
              <a:defRPr sz="4950" b="1">
                <a:solidFill>
                  <a:srgbClr val="FFFFFF"/>
                </a:solidFill>
                <a:latin typeface="Arial"/>
                <a:ea typeface="Arial"/>
                <a:cs typeface="Arial"/>
              </a:defRPr>
            </a:lvl2pPr>
            <a:lvl3pPr>
              <a:buNone/>
              <a:defRPr sz="4950" b="1">
                <a:solidFill>
                  <a:srgbClr val="FFFFFF"/>
                </a:solidFill>
                <a:latin typeface="Arial"/>
                <a:ea typeface="Arial"/>
                <a:cs typeface="Arial"/>
              </a:defRPr>
            </a:lvl3pPr>
            <a:lvl4pPr>
              <a:buNone/>
              <a:defRPr sz="4950" b="1">
                <a:solidFill>
                  <a:srgbClr val="FFFFFF"/>
                </a:solidFill>
                <a:latin typeface="Arial"/>
                <a:ea typeface="Arial"/>
                <a:cs typeface="Arial"/>
              </a:defRPr>
            </a:lvl4pPr>
            <a:lvl5pPr>
              <a:buNone/>
              <a:defRPr sz="4950" b="1">
                <a:solidFill>
                  <a:srgbClr val="FFFFFF"/>
                </a:solidFill>
                <a:latin typeface="Arial"/>
                <a:ea typeface="Arial"/>
                <a:cs typeface="Arial"/>
              </a:defRPr>
            </a:lvl5pPr>
            <a:lvl6pPr>
              <a:buNone/>
              <a:defRPr sz="4950" b="1">
                <a:solidFill>
                  <a:srgbClr val="FFFFFF"/>
                </a:solidFill>
                <a:latin typeface="Arial"/>
                <a:ea typeface="Arial"/>
                <a:cs typeface="Arial"/>
              </a:defRPr>
            </a:lvl6pPr>
            <a:lvl7pPr>
              <a:buNone/>
              <a:defRPr sz="4950" b="1">
                <a:solidFill>
                  <a:srgbClr val="FFFFFF"/>
                </a:solidFill>
                <a:latin typeface="Arial"/>
                <a:ea typeface="Arial"/>
                <a:cs typeface="Arial"/>
              </a:defRPr>
            </a:lvl7pPr>
            <a:lvl8pPr>
              <a:buNone/>
              <a:defRPr sz="4950" b="1">
                <a:solidFill>
                  <a:srgbClr val="FFFFFF"/>
                </a:solidFill>
                <a:latin typeface="Arial"/>
                <a:ea typeface="Arial"/>
                <a:cs typeface="Arial"/>
              </a:defRPr>
            </a:lvl8pPr>
            <a:lvl9pPr>
              <a:buNone/>
              <a:defRPr sz="4950" b="1">
                <a:solidFill>
                  <a:srgbClr val="FFFFFF"/>
                </a:solidFill>
                <a:latin typeface="Arial"/>
                <a:ea typeface="Arial"/>
                <a:cs typeface="Arial"/>
              </a:defRPr>
            </a:lvl9pPr>
          </a:lstStyle>
          <a:p xmlns:a="http://schemas.openxmlformats.org/drawingml/2006/main">
            <a:pPr>
              <a:buNone/>
              <a:defRPr sz="4950" b="1">
                <a:solidFill>
                  <a:srgbClr val="FFFFFF"/>
                </a:solidFill>
                <a:latin typeface="Arial"/>
                <a:ea typeface="Arial"/>
                <a:cs typeface="Arial"/>
              </a:defRPr>
            </a:pPr>
            <a:r>
              <a:rPr sz="4950" b="1">
                <a:solidFill>
                  <a:srgbClr val="FFFFFF"/>
                </a:solidFill>
                <a:latin typeface="Arial"/>
                <a:ea typeface="Arial"/>
                <a:cs typeface="Arial"/>
              </a:rPr>
              <a:t>Predicting game</a:t>
            </a:r>
          </a:p>
          <a:p xmlns:a="http://schemas.openxmlformats.org/drawingml/2006/main">
            <a:pPr>
              <a:buNone/>
              <a:defRPr sz="4950" b="1">
                <a:solidFill>
                  <a:srgbClr val="FFFFFF"/>
                </a:solidFill>
                <a:latin typeface="Arial"/>
                <a:ea typeface="Arial"/>
                <a:cs typeface="Arial"/>
              </a:defRPr>
            </a:pPr>
            <a:r>
              <a:rPr sz="4950" b="1">
                <a:solidFill>
                  <a:srgbClr val="FFFFFF"/>
                </a:solidFill>
                <a:latin typeface="Arial"/>
                <a:ea typeface="Arial"/>
                <a:cs typeface="Arial"/>
              </a:rPr>
              <a:t>completion time</a:t>
            </a:r>
          </a:p>
        </p:txBody>
      </p:sp>
      <p:sp>
        <p:nvSpPr>
          <p:cNvPr id="2" name="">
            <a:extLst xmlns:a="http://schemas.openxmlformats.org/drawingml/2006/main">
              <a:ext uri="{FF2B5EF4-FFF2-40B4-BE49-F238E27FC236}">
                <a16:creationId xmlns:a16="http://schemas.microsoft.com/office/drawing/2014/main" id="{73C9278D-75F4-449C-820E-EFC05C2DB543}"/>
              </a:ext>
            </a:extLst>
          </p:cNvPr>
          <p:cNvSpPr>
            <a:spLocks xmlns:a="http://schemas.openxmlformats.org/drawingml/2006/main" noGrp="1"/>
          </p:cNvSpPr>
          <p:nvPr/>
        </p:nvSpPr>
        <p:spPr>
          <a:xfrm xmlns:a="http://schemas.openxmlformats.org/drawingml/2006/main">
            <a:off x="723900" y="33528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90D4C5"/>
                </a:solidFill>
                <a:latin typeface="Arial"/>
                <a:ea typeface="Arial"/>
                <a:cs typeface="Arial"/>
              </a:defRPr>
            </a:defPPr>
            <a:lvl1pPr>
              <a:buNone/>
              <a:defRPr sz="2550" b="0">
                <a:solidFill>
                  <a:srgbClr val="90D4C5"/>
                </a:solidFill>
                <a:latin typeface="Arial"/>
                <a:ea typeface="Arial"/>
                <a:cs typeface="Arial"/>
              </a:defRPr>
            </a:lvl1pPr>
            <a:lvl2pPr>
              <a:buNone/>
              <a:defRPr sz="2550" b="0">
                <a:solidFill>
                  <a:srgbClr val="90D4C5"/>
                </a:solidFill>
                <a:latin typeface="Arial"/>
                <a:ea typeface="Arial"/>
                <a:cs typeface="Arial"/>
              </a:defRPr>
            </a:lvl2pPr>
            <a:lvl3pPr>
              <a:buNone/>
              <a:defRPr sz="2550" b="0">
                <a:solidFill>
                  <a:srgbClr val="90D4C5"/>
                </a:solidFill>
                <a:latin typeface="Arial"/>
                <a:ea typeface="Arial"/>
                <a:cs typeface="Arial"/>
              </a:defRPr>
            </a:lvl3pPr>
            <a:lvl4pPr>
              <a:buNone/>
              <a:defRPr sz="2550" b="0">
                <a:solidFill>
                  <a:srgbClr val="90D4C5"/>
                </a:solidFill>
                <a:latin typeface="Arial"/>
                <a:ea typeface="Arial"/>
                <a:cs typeface="Arial"/>
              </a:defRPr>
            </a:lvl4pPr>
            <a:lvl5pPr>
              <a:buNone/>
              <a:defRPr sz="2550" b="0">
                <a:solidFill>
                  <a:srgbClr val="90D4C5"/>
                </a:solidFill>
                <a:latin typeface="Arial"/>
                <a:ea typeface="Arial"/>
                <a:cs typeface="Arial"/>
              </a:defRPr>
            </a:lvl5pPr>
            <a:lvl6pPr>
              <a:buNone/>
              <a:defRPr sz="2550" b="0">
                <a:solidFill>
                  <a:srgbClr val="90D4C5"/>
                </a:solidFill>
                <a:latin typeface="Arial"/>
                <a:ea typeface="Arial"/>
                <a:cs typeface="Arial"/>
              </a:defRPr>
            </a:lvl6pPr>
            <a:lvl7pPr>
              <a:buNone/>
              <a:defRPr sz="2550" b="0">
                <a:solidFill>
                  <a:srgbClr val="90D4C5"/>
                </a:solidFill>
                <a:latin typeface="Arial"/>
                <a:ea typeface="Arial"/>
                <a:cs typeface="Arial"/>
              </a:defRPr>
            </a:lvl7pPr>
            <a:lvl8pPr>
              <a:buNone/>
              <a:defRPr sz="2550" b="0">
                <a:solidFill>
                  <a:srgbClr val="90D4C5"/>
                </a:solidFill>
                <a:latin typeface="Arial"/>
                <a:ea typeface="Arial"/>
                <a:cs typeface="Arial"/>
              </a:defRPr>
            </a:lvl8pPr>
            <a:lvl9pPr>
              <a:buNone/>
              <a:defRPr sz="2550" b="0">
                <a:solidFill>
                  <a:srgbClr val="90D4C5"/>
                </a:solidFill>
                <a:latin typeface="Arial"/>
                <a:ea typeface="Arial"/>
                <a:cs typeface="Arial"/>
              </a:defRPr>
            </a:lvl9pPr>
          </a:lstStyle>
          <a:p xmlns:a="http://schemas.openxmlformats.org/drawingml/2006/main">
            <a:pPr>
              <a:buNone/>
              <a:defRPr sz="2550" b="0">
                <a:solidFill>
                  <a:srgbClr val="90D4C5"/>
                </a:solidFill>
                <a:latin typeface="Arial"/>
                <a:ea typeface="Arial"/>
                <a:cs typeface="Arial"/>
              </a:defRPr>
            </a:pPr>
            <a:r>
              <a:rPr sz="2550" b="0">
                <a:solidFill>
                  <a:srgbClr val="90D4C5"/>
                </a:solidFill>
                <a:latin typeface="Arial"/>
                <a:ea typeface="Arial"/>
                <a:cs typeface="Arial"/>
              </a:rPr>
              <a:t>Expanded IGDB and Steam metadata</a:t>
            </a:r>
          </a:p>
        </p:txBody>
      </p:sp>
      <p:sp>
        <p:nvSpPr>
          <p:cNvPr id="3" name="">
            <a:extLst xmlns:a="http://schemas.openxmlformats.org/drawingml/2006/main">
              <a:ext uri="{FF2B5EF4-FFF2-40B4-BE49-F238E27FC236}">
                <a16:creationId xmlns:a16="http://schemas.microsoft.com/office/drawing/2014/main" id="{DE7C1746-B3B0-40CF-94F1-0D703C8BD691}"/>
              </a:ext>
            </a:extLst>
          </p:cNvPr>
          <p:cNvSpPr>
            <a:spLocks xmlns:a="http://schemas.openxmlformats.org/drawingml/2006/main" noGrp="1"/>
          </p:cNvSpPr>
          <p:nvPr/>
        </p:nvSpPr>
        <p:spPr>
          <a:xfrm xmlns:a="http://schemas.openxmlformats.org/drawingml/2006/main">
            <a:off x="723900" y="4048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vl1pPr>
              <a:buNone/>
              <a:defRPr sz="2025" b="0">
                <a:solidFill>
                  <a:srgbClr val="FFFFFF"/>
                </a:solidFill>
                <a:latin typeface="Arial"/>
                <a:ea typeface="Arial"/>
                <a:cs typeface="Arial"/>
              </a:defRPr>
            </a:lvl1pPr>
            <a:lvl2pPr>
              <a:buNone/>
              <a:defRPr sz="2025" b="0">
                <a:solidFill>
                  <a:srgbClr val="FFFFFF"/>
                </a:solidFill>
                <a:latin typeface="Arial"/>
                <a:ea typeface="Arial"/>
                <a:cs typeface="Arial"/>
              </a:defRPr>
            </a:lvl2pPr>
            <a:lvl3pPr>
              <a:buNone/>
              <a:defRPr sz="2025" b="0">
                <a:solidFill>
                  <a:srgbClr val="FFFFFF"/>
                </a:solidFill>
                <a:latin typeface="Arial"/>
                <a:ea typeface="Arial"/>
                <a:cs typeface="Arial"/>
              </a:defRPr>
            </a:lvl3pPr>
            <a:lvl4pPr>
              <a:buNone/>
              <a:defRPr sz="2025" b="0">
                <a:solidFill>
                  <a:srgbClr val="FFFFFF"/>
                </a:solidFill>
                <a:latin typeface="Arial"/>
                <a:ea typeface="Arial"/>
                <a:cs typeface="Arial"/>
              </a:defRPr>
            </a:lvl4pPr>
            <a:lvl5pPr>
              <a:buNone/>
              <a:defRPr sz="2025" b="0">
                <a:solidFill>
                  <a:srgbClr val="FFFFFF"/>
                </a:solidFill>
                <a:latin typeface="Arial"/>
                <a:ea typeface="Arial"/>
                <a:cs typeface="Arial"/>
              </a:defRPr>
            </a:lvl5pPr>
            <a:lvl6pPr>
              <a:buNone/>
              <a:defRPr sz="2025" b="0">
                <a:solidFill>
                  <a:srgbClr val="FFFFFF"/>
                </a:solidFill>
                <a:latin typeface="Arial"/>
                <a:ea typeface="Arial"/>
                <a:cs typeface="Arial"/>
              </a:defRPr>
            </a:lvl6pPr>
            <a:lvl7pPr>
              <a:buNone/>
              <a:defRPr sz="2025" b="0">
                <a:solidFill>
                  <a:srgbClr val="FFFFFF"/>
                </a:solidFill>
                <a:latin typeface="Arial"/>
                <a:ea typeface="Arial"/>
                <a:cs typeface="Arial"/>
              </a:defRPr>
            </a:lvl7pPr>
            <a:lvl8pPr>
              <a:buNone/>
              <a:defRPr sz="2025" b="0">
                <a:solidFill>
                  <a:srgbClr val="FFFFFF"/>
                </a:solidFill>
                <a:latin typeface="Arial"/>
                <a:ea typeface="Arial"/>
                <a:cs typeface="Arial"/>
              </a:defRPr>
            </a:lvl8pPr>
            <a:lvl9pPr>
              <a:buNone/>
              <a:defRPr sz="2025" b="0">
                <a:solidFill>
                  <a:srgbClr val="FFFFFF"/>
                </a:solidFill>
                <a:latin typeface="Arial"/>
                <a:ea typeface="Arial"/>
                <a:cs typeface="Arial"/>
              </a:defRPr>
            </a:lvl9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Machine Learning Algorithms Endterm</a:t>
            </a:r>
          </a:p>
        </p:txBody>
      </p:sp>
      <p:sp>
        <p:nvSpPr>
          <p:cNvPr id="4" name="">
            <a:extLst xmlns:a="http://schemas.openxmlformats.org/drawingml/2006/main">
              <a:ext uri="{FF2B5EF4-FFF2-40B4-BE49-F238E27FC236}">
                <a16:creationId xmlns:a16="http://schemas.microsoft.com/office/drawing/2014/main" id="{F82CFACF-3863-4AC8-9386-5C8C9270E880}"/>
              </a:ext>
            </a:extLst>
          </p:cNvPr>
          <p:cNvSpPr>
            <a:spLocks xmlns:a="http://schemas.openxmlformats.org/drawingml/2006/main" noGrp="1"/>
          </p:cNvSpPr>
          <p:nvPr/>
        </p:nvSpPr>
        <p:spPr>
          <a:xfrm xmlns:a="http://schemas.openxmlformats.org/drawingml/2006/main">
            <a:off x="723900" y="5095875"/>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vl1pPr>
              <a:buNone/>
              <a:defRPr sz="2025" b="0">
                <a:solidFill>
                  <a:srgbClr val="FFFFFF"/>
                </a:solidFill>
                <a:latin typeface="Arial"/>
                <a:ea typeface="Arial"/>
                <a:cs typeface="Arial"/>
              </a:defRPr>
            </a:lvl1pPr>
            <a:lvl2pPr>
              <a:buNone/>
              <a:defRPr sz="2025" b="0">
                <a:solidFill>
                  <a:srgbClr val="FFFFFF"/>
                </a:solidFill>
                <a:latin typeface="Arial"/>
                <a:ea typeface="Arial"/>
                <a:cs typeface="Arial"/>
              </a:defRPr>
            </a:lvl2pPr>
            <a:lvl3pPr>
              <a:buNone/>
              <a:defRPr sz="2025" b="0">
                <a:solidFill>
                  <a:srgbClr val="FFFFFF"/>
                </a:solidFill>
                <a:latin typeface="Arial"/>
                <a:ea typeface="Arial"/>
                <a:cs typeface="Arial"/>
              </a:defRPr>
            </a:lvl3pPr>
            <a:lvl4pPr>
              <a:buNone/>
              <a:defRPr sz="2025" b="0">
                <a:solidFill>
                  <a:srgbClr val="FFFFFF"/>
                </a:solidFill>
                <a:latin typeface="Arial"/>
                <a:ea typeface="Arial"/>
                <a:cs typeface="Arial"/>
              </a:defRPr>
            </a:lvl4pPr>
            <a:lvl5pPr>
              <a:buNone/>
              <a:defRPr sz="2025" b="0">
                <a:solidFill>
                  <a:srgbClr val="FFFFFF"/>
                </a:solidFill>
                <a:latin typeface="Arial"/>
                <a:ea typeface="Arial"/>
                <a:cs typeface="Arial"/>
              </a:defRPr>
            </a:lvl5pPr>
            <a:lvl6pPr>
              <a:buNone/>
              <a:defRPr sz="2025" b="0">
                <a:solidFill>
                  <a:srgbClr val="FFFFFF"/>
                </a:solidFill>
                <a:latin typeface="Arial"/>
                <a:ea typeface="Arial"/>
                <a:cs typeface="Arial"/>
              </a:defRPr>
            </a:lvl6pPr>
            <a:lvl7pPr>
              <a:buNone/>
              <a:defRPr sz="2025" b="0">
                <a:solidFill>
                  <a:srgbClr val="FFFFFF"/>
                </a:solidFill>
                <a:latin typeface="Arial"/>
                <a:ea typeface="Arial"/>
                <a:cs typeface="Arial"/>
              </a:defRPr>
            </a:lvl7pPr>
            <a:lvl8pPr>
              <a:buNone/>
              <a:defRPr sz="2025" b="0">
                <a:solidFill>
                  <a:srgbClr val="FFFFFF"/>
                </a:solidFill>
                <a:latin typeface="Arial"/>
                <a:ea typeface="Arial"/>
                <a:cs typeface="Arial"/>
              </a:defRPr>
            </a:lvl8pPr>
            <a:lvl9pPr>
              <a:buNone/>
              <a:defRPr sz="2025" b="0">
                <a:solidFill>
                  <a:srgbClr val="FFFFFF"/>
                </a:solidFill>
                <a:latin typeface="Arial"/>
                <a:ea typeface="Arial"/>
                <a:cs typeface="Arial"/>
              </a:defRPr>
            </a:lvl9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Syrym Shadiyarbek</a:t>
            </a:r>
          </a:p>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Yerdaulet Akhanov</a:t>
            </a:r>
          </a:p>
        </p:txBody>
      </p:sp>
      <p:sp>
        <p:nvSpPr>
          <p:cNvPr id="5" name="">
            <a:extLst xmlns:a="http://schemas.openxmlformats.org/drawingml/2006/main">
              <a:ext uri="{FF2B5EF4-FFF2-40B4-BE49-F238E27FC236}">
                <a16:creationId xmlns:a16="http://schemas.microsoft.com/office/drawing/2014/main" id="{10E3E9D8-01B2-4104-839C-94A1C8B9D302}"/>
              </a:ext>
            </a:extLst>
          </p:cNvPr>
          <p:cNvSpPr>
            <a:spLocks xmlns:a="http://schemas.openxmlformats.org/drawingml/2006/main" noGrp="1"/>
          </p:cNvSpPr>
          <p:nvPr/>
        </p:nvSpPr>
        <p:spPr>
          <a:xfrm xmlns:a="http://schemas.openxmlformats.org/drawingml/2006/main">
            <a:off x="8953500" y="576262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B7CBCB"/>
                </a:solidFill>
                <a:latin typeface="Arial"/>
                <a:ea typeface="Arial"/>
                <a:cs typeface="Arial"/>
              </a:defRPr>
            </a:defPPr>
            <a:lvl1pPr>
              <a:buNone/>
              <a:defRPr sz="1575" b="0">
                <a:solidFill>
                  <a:srgbClr val="B7CBCB"/>
                </a:solidFill>
                <a:latin typeface="Arial"/>
                <a:ea typeface="Arial"/>
                <a:cs typeface="Arial"/>
              </a:defRPr>
            </a:lvl1pPr>
            <a:lvl2pPr>
              <a:buNone/>
              <a:defRPr sz="1575" b="0">
                <a:solidFill>
                  <a:srgbClr val="B7CBCB"/>
                </a:solidFill>
                <a:latin typeface="Arial"/>
                <a:ea typeface="Arial"/>
                <a:cs typeface="Arial"/>
              </a:defRPr>
            </a:lvl2pPr>
            <a:lvl3pPr>
              <a:buNone/>
              <a:defRPr sz="1575" b="0">
                <a:solidFill>
                  <a:srgbClr val="B7CBCB"/>
                </a:solidFill>
                <a:latin typeface="Arial"/>
                <a:ea typeface="Arial"/>
                <a:cs typeface="Arial"/>
              </a:defRPr>
            </a:lvl3pPr>
            <a:lvl4pPr>
              <a:buNone/>
              <a:defRPr sz="1575" b="0">
                <a:solidFill>
                  <a:srgbClr val="B7CBCB"/>
                </a:solidFill>
                <a:latin typeface="Arial"/>
                <a:ea typeface="Arial"/>
                <a:cs typeface="Arial"/>
              </a:defRPr>
            </a:lvl4pPr>
            <a:lvl5pPr>
              <a:buNone/>
              <a:defRPr sz="1575" b="0">
                <a:solidFill>
                  <a:srgbClr val="B7CBCB"/>
                </a:solidFill>
                <a:latin typeface="Arial"/>
                <a:ea typeface="Arial"/>
                <a:cs typeface="Arial"/>
              </a:defRPr>
            </a:lvl5pPr>
            <a:lvl6pPr>
              <a:buNone/>
              <a:defRPr sz="1575" b="0">
                <a:solidFill>
                  <a:srgbClr val="B7CBCB"/>
                </a:solidFill>
                <a:latin typeface="Arial"/>
                <a:ea typeface="Arial"/>
                <a:cs typeface="Arial"/>
              </a:defRPr>
            </a:lvl6pPr>
            <a:lvl7pPr>
              <a:buNone/>
              <a:defRPr sz="1575" b="0">
                <a:solidFill>
                  <a:srgbClr val="B7CBCB"/>
                </a:solidFill>
                <a:latin typeface="Arial"/>
                <a:ea typeface="Arial"/>
                <a:cs typeface="Arial"/>
              </a:defRPr>
            </a:lvl7pPr>
            <a:lvl8pPr>
              <a:buNone/>
              <a:defRPr sz="1575" b="0">
                <a:solidFill>
                  <a:srgbClr val="B7CBCB"/>
                </a:solidFill>
                <a:latin typeface="Arial"/>
                <a:ea typeface="Arial"/>
                <a:cs typeface="Arial"/>
              </a:defRPr>
            </a:lvl8pPr>
            <a:lvl9pPr>
              <a:buNone/>
              <a:defRPr sz="1575" b="0">
                <a:solidFill>
                  <a:srgbClr val="B7CBCB"/>
                </a:solidFill>
                <a:latin typeface="Arial"/>
                <a:ea typeface="Arial"/>
                <a:cs typeface="Arial"/>
              </a:defRPr>
            </a:lvl9pPr>
          </a:lstStyle>
          <a:p xmlns:a="http://schemas.openxmlformats.org/drawingml/2006/main">
            <a:pPr>
              <a:buNone/>
              <a:defRPr sz="1575" b="0">
                <a:solidFill>
                  <a:srgbClr val="B7CBCB"/>
                </a:solidFill>
                <a:latin typeface="Arial"/>
                <a:ea typeface="Arial"/>
                <a:cs typeface="Arial"/>
              </a:defRPr>
            </a:pPr>
            <a:r>
              <a:rPr sz="1575" b="0">
                <a:solidFill>
                  <a:srgbClr val="B7CBCB"/>
                </a:solidFill>
                <a:latin typeface="Arial"/>
                <a:ea typeface="Arial"/>
                <a:cs typeface="Arial"/>
              </a:rPr>
              <a:t>02 November 2026</a:t>
            </a:r>
          </a:p>
        </p:txBody>
      </p:sp>
    </p:spTree>
    <p:extLst>
      <p:ext uri="{BB962C8B-B14F-4D97-AF65-F5344CB8AC3E}">
        <p14:creationId xmlns:p14="http://schemas.microsoft.com/office/powerpoint/2010/main" val="6528080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414B161-0E56-4B78-8B28-472BB4C0B6CE}"/>
              </a:ext>
            </a:extLst>
          </p:cNvPr>
          <p:cNvSpPr>
            <a:spLocks xmlns:a="http://schemas.openxmlformats.org/drawingml/2006/main" noGrp="1"/>
          </p:cNvSpPr>
          <p:nvPr/>
        </p:nvSpPr>
        <p:spPr>
          <a:xfrm xmlns:a="http://schemas.openxmlformats.org/drawingml/2006/main">
            <a:off x="590550" y="400050"/>
            <a:ext cx="11010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3C"/>
                </a:solidFill>
                <a:latin typeface="Arial"/>
                <a:ea typeface="Arial"/>
                <a:cs typeface="Arial"/>
              </a:defRPr>
            </a:defPPr>
            <a:lvl1pPr>
              <a:buNone/>
              <a:defRPr sz="3300" b="1">
                <a:solidFill>
                  <a:srgbClr val="17343C"/>
                </a:solidFill>
                <a:latin typeface="Arial"/>
                <a:ea typeface="Arial"/>
                <a:cs typeface="Arial"/>
              </a:defRPr>
            </a:lvl1pPr>
            <a:lvl2pPr>
              <a:buNone/>
              <a:defRPr sz="3300" b="1">
                <a:solidFill>
                  <a:srgbClr val="17343C"/>
                </a:solidFill>
                <a:latin typeface="Arial"/>
                <a:ea typeface="Arial"/>
                <a:cs typeface="Arial"/>
              </a:defRPr>
            </a:lvl2pPr>
            <a:lvl3pPr>
              <a:buNone/>
              <a:defRPr sz="3300" b="1">
                <a:solidFill>
                  <a:srgbClr val="17343C"/>
                </a:solidFill>
                <a:latin typeface="Arial"/>
                <a:ea typeface="Arial"/>
                <a:cs typeface="Arial"/>
              </a:defRPr>
            </a:lvl3pPr>
            <a:lvl4pPr>
              <a:buNone/>
              <a:defRPr sz="3300" b="1">
                <a:solidFill>
                  <a:srgbClr val="17343C"/>
                </a:solidFill>
                <a:latin typeface="Arial"/>
                <a:ea typeface="Arial"/>
                <a:cs typeface="Arial"/>
              </a:defRPr>
            </a:lvl4pPr>
            <a:lvl5pPr>
              <a:buNone/>
              <a:defRPr sz="3300" b="1">
                <a:solidFill>
                  <a:srgbClr val="17343C"/>
                </a:solidFill>
                <a:latin typeface="Arial"/>
                <a:ea typeface="Arial"/>
                <a:cs typeface="Arial"/>
              </a:defRPr>
            </a:lvl5pPr>
            <a:lvl6pPr>
              <a:buNone/>
              <a:defRPr sz="3300" b="1">
                <a:solidFill>
                  <a:srgbClr val="17343C"/>
                </a:solidFill>
                <a:latin typeface="Arial"/>
                <a:ea typeface="Arial"/>
                <a:cs typeface="Arial"/>
              </a:defRPr>
            </a:lvl6pPr>
            <a:lvl7pPr>
              <a:buNone/>
              <a:defRPr sz="3300" b="1">
                <a:solidFill>
                  <a:srgbClr val="17343C"/>
                </a:solidFill>
                <a:latin typeface="Arial"/>
                <a:ea typeface="Arial"/>
                <a:cs typeface="Arial"/>
              </a:defRPr>
            </a:lvl7pPr>
            <a:lvl8pPr>
              <a:buNone/>
              <a:defRPr sz="3300" b="1">
                <a:solidFill>
                  <a:srgbClr val="17343C"/>
                </a:solidFill>
                <a:latin typeface="Arial"/>
                <a:ea typeface="Arial"/>
                <a:cs typeface="Arial"/>
              </a:defRPr>
            </a:lvl8pPr>
            <a:lvl9pPr>
              <a:buNone/>
              <a:defRPr sz="3300" b="1">
                <a:solidFill>
                  <a:srgbClr val="17343C"/>
                </a:solidFill>
                <a:latin typeface="Arial"/>
                <a:ea typeface="Arial"/>
                <a:cs typeface="Arial"/>
              </a:defRPr>
            </a:lvl9pPr>
          </a:lstStyle>
          <a:p xmlns:a="http://schemas.openxmlformats.org/drawingml/2006/main">
            <a:pPr>
              <a:buNone/>
              <a:defRPr sz="3300" b="1">
                <a:solidFill>
                  <a:srgbClr val="17343C"/>
                </a:solidFill>
                <a:latin typeface="Arial"/>
                <a:ea typeface="Arial"/>
                <a:cs typeface="Arial"/>
              </a:defRPr>
            </a:pPr>
            <a:r>
              <a:rPr sz="3300" b="1">
                <a:solidFill>
                  <a:srgbClr val="17343C"/>
                </a:solidFill>
                <a:latin typeface="Arial"/>
                <a:ea typeface="Arial"/>
                <a:cs typeface="Arial"/>
              </a:rPr>
              <a:t>Real data expansion on the same games</a:t>
            </a:r>
          </a:p>
        </p:txBody>
      </p:sp>
      <p:sp>
        <p:nvSpPr>
          <p:cNvPr id="2" name="">
            <a:extLst xmlns:a="http://schemas.openxmlformats.org/drawingml/2006/main">
              <a:ext uri="{FF2B5EF4-FFF2-40B4-BE49-F238E27FC236}">
                <a16:creationId xmlns:a16="http://schemas.microsoft.com/office/drawing/2014/main" id="{31E64C95-A216-416C-9692-7D3707686FCE}"/>
              </a:ext>
            </a:extLst>
          </p:cNvPr>
          <p:cNvSpPr>
            <a:spLocks xmlns:a="http://schemas.openxmlformats.org/drawingml/2006/main" noGrp="1"/>
          </p:cNvSpPr>
          <p:nvPr/>
        </p:nvSpPr>
        <p:spPr>
          <a:xfrm xmlns:a="http://schemas.openxmlformats.org/drawingml/2006/main">
            <a:off x="10763250" y="638175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78792"/>
                </a:solidFill>
                <a:latin typeface="Arial"/>
                <a:ea typeface="Arial"/>
                <a:cs typeface="Arial"/>
              </a:defRPr>
            </a:defPPr>
            <a:lvl1pPr>
              <a:buNone/>
              <a:defRPr sz="1350" b="0">
                <a:solidFill>
                  <a:srgbClr val="778792"/>
                </a:solidFill>
                <a:latin typeface="Arial"/>
                <a:ea typeface="Arial"/>
                <a:cs typeface="Arial"/>
              </a:defRPr>
            </a:lvl1pPr>
            <a:lvl2pPr>
              <a:buNone/>
              <a:defRPr sz="1350" b="0">
                <a:solidFill>
                  <a:srgbClr val="778792"/>
                </a:solidFill>
                <a:latin typeface="Arial"/>
                <a:ea typeface="Arial"/>
                <a:cs typeface="Arial"/>
              </a:defRPr>
            </a:lvl2pPr>
            <a:lvl3pPr>
              <a:buNone/>
              <a:defRPr sz="1350" b="0">
                <a:solidFill>
                  <a:srgbClr val="778792"/>
                </a:solidFill>
                <a:latin typeface="Arial"/>
                <a:ea typeface="Arial"/>
                <a:cs typeface="Arial"/>
              </a:defRPr>
            </a:lvl3pPr>
            <a:lvl4pPr>
              <a:buNone/>
              <a:defRPr sz="1350" b="0">
                <a:solidFill>
                  <a:srgbClr val="778792"/>
                </a:solidFill>
                <a:latin typeface="Arial"/>
                <a:ea typeface="Arial"/>
                <a:cs typeface="Arial"/>
              </a:defRPr>
            </a:lvl4pPr>
            <a:lvl5pPr>
              <a:buNone/>
              <a:defRPr sz="1350" b="0">
                <a:solidFill>
                  <a:srgbClr val="778792"/>
                </a:solidFill>
                <a:latin typeface="Arial"/>
                <a:ea typeface="Arial"/>
                <a:cs typeface="Arial"/>
              </a:defRPr>
            </a:lvl5pPr>
            <a:lvl6pPr>
              <a:buNone/>
              <a:defRPr sz="1350" b="0">
                <a:solidFill>
                  <a:srgbClr val="778792"/>
                </a:solidFill>
                <a:latin typeface="Arial"/>
                <a:ea typeface="Arial"/>
                <a:cs typeface="Arial"/>
              </a:defRPr>
            </a:lvl6pPr>
            <a:lvl7pPr>
              <a:buNone/>
              <a:defRPr sz="1350" b="0">
                <a:solidFill>
                  <a:srgbClr val="778792"/>
                </a:solidFill>
                <a:latin typeface="Arial"/>
                <a:ea typeface="Arial"/>
                <a:cs typeface="Arial"/>
              </a:defRPr>
            </a:lvl7pPr>
            <a:lvl8pPr>
              <a:buNone/>
              <a:defRPr sz="1350" b="0">
                <a:solidFill>
                  <a:srgbClr val="778792"/>
                </a:solidFill>
                <a:latin typeface="Arial"/>
                <a:ea typeface="Arial"/>
                <a:cs typeface="Arial"/>
              </a:defRPr>
            </a:lvl8pPr>
            <a:lvl9pPr>
              <a:buNone/>
              <a:defRPr sz="1350" b="0">
                <a:solidFill>
                  <a:srgbClr val="778792"/>
                </a:solidFill>
                <a:latin typeface="Arial"/>
                <a:ea typeface="Arial"/>
                <a:cs typeface="Arial"/>
              </a:defRPr>
            </a:lvl9pPr>
          </a:lstStyle>
          <a:p xmlns:a="http://schemas.openxmlformats.org/drawingml/2006/main">
            <a:pPr>
              <a:buNone/>
              <a:defRPr sz="1350" b="0">
                <a:solidFill>
                  <a:srgbClr val="778792"/>
                </a:solidFill>
                <a:latin typeface="Arial"/>
                <a:ea typeface="Arial"/>
                <a:cs typeface="Arial"/>
              </a:defRPr>
            </a:pPr>
            <a:r>
              <a:rPr sz="1350" b="0">
                <a:solidFill>
                  <a:srgbClr val="778792"/>
                </a:solidFill>
                <a:latin typeface="Arial"/>
                <a:ea typeface="Arial"/>
                <a:cs typeface="Arial"/>
              </a:rPr>
              <a:t>02 / 09</a:t>
            </a:r>
          </a:p>
        </p:txBody>
      </p:sp>
      <p:graphicFrame>
        <p:nvGraphicFramePr>
          <p:cNvPr id="3" name="Chart">
            <a:extLst xmlns:a="http://schemas.openxmlformats.org/drawingml/2006/main">
              <a:ext uri="{FF2B5EF4-FFF2-40B4-BE49-F238E27FC236}">
                <a16:creationId xmlns:a16="http://schemas.microsoft.com/office/drawing/2014/main" id="{852FEF40-9A1C-45C5-A4AB-01B532BF829E}"/>
              </a:ext>
            </a:extLst>
          </p:cNvPr>
          <p:cNvGraphicFramePr/>
          <p:nvPr/>
        </p:nvGraphicFramePr>
        <p:xfrm>
          <a:off xmlns:a="http://schemas.openxmlformats.org/drawingml/2006/main" x="619125" y="1381125"/>
          <a:ext xmlns:a="http://schemas.openxmlformats.org/drawingml/2006/main" cx="10810875" cy="4191000"/>
        </p:xfrm>
        <a:graphic xmlns:a="http://schemas.openxmlformats.org/drawingml/2006/main">
          <a:graphicData uri="http://schemas.openxmlformats.org/drawingml/2006/chart">
            <c:chart xmlns:r="http://schemas.openxmlformats.org/officeDocument/2006/relationships" xmlns:c="http://schemas.openxmlformats.org/drawingml/2006/chart" r:id="R4016fc39ae3e406a"/>
          </a:graphicData>
        </a:graphic>
      </p:graphicFrame>
      <p:sp>
        <p:nvSpPr>
          <p:cNvPr id="4" name="">
            <a:extLst xmlns:a="http://schemas.openxmlformats.org/drawingml/2006/main">
              <a:ext uri="{FF2B5EF4-FFF2-40B4-BE49-F238E27FC236}">
                <a16:creationId xmlns:a16="http://schemas.microsoft.com/office/drawing/2014/main" id="{D76F78E4-5893-4513-93A2-DEE9DBBCF712}"/>
              </a:ext>
            </a:extLst>
          </p:cNvPr>
          <p:cNvSpPr>
            <a:spLocks xmlns:a="http://schemas.openxmlformats.org/drawingml/2006/main" noGrp="1"/>
          </p:cNvSpPr>
          <p:nvPr/>
        </p:nvSpPr>
        <p:spPr>
          <a:xfrm xmlns:a="http://schemas.openxmlformats.org/drawingml/2006/main">
            <a:off x="714375" y="58102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6B68"/>
                </a:solidFill>
                <a:latin typeface="Arial"/>
                <a:ea typeface="Arial"/>
                <a:cs typeface="Arial"/>
              </a:defRPr>
            </a:defPPr>
            <a:lvl1pPr>
              <a:buNone/>
              <a:defRPr sz="1800" b="1">
                <a:solidFill>
                  <a:srgbClr val="176B68"/>
                </a:solidFill>
                <a:latin typeface="Arial"/>
                <a:ea typeface="Arial"/>
                <a:cs typeface="Arial"/>
              </a:defRPr>
            </a:lvl1pPr>
            <a:lvl2pPr>
              <a:buNone/>
              <a:defRPr sz="1800" b="1">
                <a:solidFill>
                  <a:srgbClr val="176B68"/>
                </a:solidFill>
                <a:latin typeface="Arial"/>
                <a:ea typeface="Arial"/>
                <a:cs typeface="Arial"/>
              </a:defRPr>
            </a:lvl2pPr>
            <a:lvl3pPr>
              <a:buNone/>
              <a:defRPr sz="1800" b="1">
                <a:solidFill>
                  <a:srgbClr val="176B68"/>
                </a:solidFill>
                <a:latin typeface="Arial"/>
                <a:ea typeface="Arial"/>
                <a:cs typeface="Arial"/>
              </a:defRPr>
            </a:lvl3pPr>
            <a:lvl4pPr>
              <a:buNone/>
              <a:defRPr sz="1800" b="1">
                <a:solidFill>
                  <a:srgbClr val="176B68"/>
                </a:solidFill>
                <a:latin typeface="Arial"/>
                <a:ea typeface="Arial"/>
                <a:cs typeface="Arial"/>
              </a:defRPr>
            </a:lvl4pPr>
            <a:lvl5pPr>
              <a:buNone/>
              <a:defRPr sz="1800" b="1">
                <a:solidFill>
                  <a:srgbClr val="176B68"/>
                </a:solidFill>
                <a:latin typeface="Arial"/>
                <a:ea typeface="Arial"/>
                <a:cs typeface="Arial"/>
              </a:defRPr>
            </a:lvl5pPr>
            <a:lvl6pPr>
              <a:buNone/>
              <a:defRPr sz="1800" b="1">
                <a:solidFill>
                  <a:srgbClr val="176B68"/>
                </a:solidFill>
                <a:latin typeface="Arial"/>
                <a:ea typeface="Arial"/>
                <a:cs typeface="Arial"/>
              </a:defRPr>
            </a:lvl6pPr>
            <a:lvl7pPr>
              <a:buNone/>
              <a:defRPr sz="1800" b="1">
                <a:solidFill>
                  <a:srgbClr val="176B68"/>
                </a:solidFill>
                <a:latin typeface="Arial"/>
                <a:ea typeface="Arial"/>
                <a:cs typeface="Arial"/>
              </a:defRPr>
            </a:lvl7pPr>
            <a:lvl8pPr>
              <a:buNone/>
              <a:defRPr sz="1800" b="1">
                <a:solidFill>
                  <a:srgbClr val="176B68"/>
                </a:solidFill>
                <a:latin typeface="Arial"/>
                <a:ea typeface="Arial"/>
                <a:cs typeface="Arial"/>
              </a:defRPr>
            </a:lvl8pPr>
            <a:lvl9pPr>
              <a:buNone/>
              <a:defRPr sz="1800" b="1">
                <a:solidFill>
                  <a:srgbClr val="176B68"/>
                </a:solidFill>
                <a:latin typeface="Arial"/>
                <a:ea typeface="Arial"/>
                <a:cs typeface="Arial"/>
              </a:defRPr>
            </a:lvl9pPr>
          </a:lstStyle>
          <a:p xmlns:a="http://schemas.openxmlformats.org/drawingml/2006/main">
            <a:pPr>
              <a:buNone/>
              <a:defRPr sz="1800" b="1">
                <a:solidFill>
                  <a:srgbClr val="176B68"/>
                </a:solidFill>
                <a:latin typeface="Arial"/>
                <a:ea typeface="Arial"/>
                <a:cs typeface="Arial"/>
              </a:defRPr>
            </a:pPr>
            <a:r>
              <a:rPr sz="1800" b="1">
                <a:solidFill>
                  <a:srgbClr val="176B68"/>
                </a:solidFill>
                <a:latin typeface="Arial"/>
                <a:ea typeface="Arial"/>
                <a:cs typeface="Arial"/>
              </a:rPr>
              <a:t>5,229 games retained. 2,861 observed USD prices. 3,333 games with Steam tags.</a:t>
            </a:r>
          </a:p>
        </p:txBody>
      </p:sp>
    </p:spTree>
    <p:extLst>
      <p:ext uri="{BB962C8B-B14F-4D97-AF65-F5344CB8AC3E}">
        <p14:creationId xmlns:p14="http://schemas.microsoft.com/office/powerpoint/2010/main" val="4684070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0317A2-23E4-4A6C-A07D-0788A0356683}"/>
              </a:ext>
            </a:extLst>
          </p:cNvPr>
          <p:cNvSpPr>
            <a:spLocks xmlns:a="http://schemas.openxmlformats.org/drawingml/2006/main" noGrp="1"/>
          </p:cNvSpPr>
          <p:nvPr/>
        </p:nvSpPr>
        <p:spPr>
          <a:xfrm xmlns:a="http://schemas.openxmlformats.org/drawingml/2006/main">
            <a:off x="590550" y="400050"/>
            <a:ext cx="11010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3C"/>
                </a:solidFill>
                <a:latin typeface="Arial"/>
                <a:ea typeface="Arial"/>
                <a:cs typeface="Arial"/>
              </a:defRPr>
            </a:defPPr>
            <a:lvl1pPr>
              <a:buNone/>
              <a:defRPr sz="3300" b="1">
                <a:solidFill>
                  <a:srgbClr val="17343C"/>
                </a:solidFill>
                <a:latin typeface="Arial"/>
                <a:ea typeface="Arial"/>
                <a:cs typeface="Arial"/>
              </a:defRPr>
            </a:lvl1pPr>
            <a:lvl2pPr>
              <a:buNone/>
              <a:defRPr sz="3300" b="1">
                <a:solidFill>
                  <a:srgbClr val="17343C"/>
                </a:solidFill>
                <a:latin typeface="Arial"/>
                <a:ea typeface="Arial"/>
                <a:cs typeface="Arial"/>
              </a:defRPr>
            </a:lvl2pPr>
            <a:lvl3pPr>
              <a:buNone/>
              <a:defRPr sz="3300" b="1">
                <a:solidFill>
                  <a:srgbClr val="17343C"/>
                </a:solidFill>
                <a:latin typeface="Arial"/>
                <a:ea typeface="Arial"/>
                <a:cs typeface="Arial"/>
              </a:defRPr>
            </a:lvl3pPr>
            <a:lvl4pPr>
              <a:buNone/>
              <a:defRPr sz="3300" b="1">
                <a:solidFill>
                  <a:srgbClr val="17343C"/>
                </a:solidFill>
                <a:latin typeface="Arial"/>
                <a:ea typeface="Arial"/>
                <a:cs typeface="Arial"/>
              </a:defRPr>
            </a:lvl4pPr>
            <a:lvl5pPr>
              <a:buNone/>
              <a:defRPr sz="3300" b="1">
                <a:solidFill>
                  <a:srgbClr val="17343C"/>
                </a:solidFill>
                <a:latin typeface="Arial"/>
                <a:ea typeface="Arial"/>
                <a:cs typeface="Arial"/>
              </a:defRPr>
            </a:lvl5pPr>
            <a:lvl6pPr>
              <a:buNone/>
              <a:defRPr sz="3300" b="1">
                <a:solidFill>
                  <a:srgbClr val="17343C"/>
                </a:solidFill>
                <a:latin typeface="Arial"/>
                <a:ea typeface="Arial"/>
                <a:cs typeface="Arial"/>
              </a:defRPr>
            </a:lvl6pPr>
            <a:lvl7pPr>
              <a:buNone/>
              <a:defRPr sz="3300" b="1">
                <a:solidFill>
                  <a:srgbClr val="17343C"/>
                </a:solidFill>
                <a:latin typeface="Arial"/>
                <a:ea typeface="Arial"/>
                <a:cs typeface="Arial"/>
              </a:defRPr>
            </a:lvl7pPr>
            <a:lvl8pPr>
              <a:buNone/>
              <a:defRPr sz="3300" b="1">
                <a:solidFill>
                  <a:srgbClr val="17343C"/>
                </a:solidFill>
                <a:latin typeface="Arial"/>
                <a:ea typeface="Arial"/>
                <a:cs typeface="Arial"/>
              </a:defRPr>
            </a:lvl8pPr>
            <a:lvl9pPr>
              <a:buNone/>
              <a:defRPr sz="3300" b="1">
                <a:solidFill>
                  <a:srgbClr val="17343C"/>
                </a:solidFill>
                <a:latin typeface="Arial"/>
                <a:ea typeface="Arial"/>
                <a:cs typeface="Arial"/>
              </a:defRPr>
            </a:lvl9pPr>
          </a:lstStyle>
          <a:p xmlns:a="http://schemas.openxmlformats.org/drawingml/2006/main">
            <a:pPr>
              <a:buNone/>
              <a:defRPr sz="3300" b="1">
                <a:solidFill>
                  <a:srgbClr val="17343C"/>
                </a:solidFill>
                <a:latin typeface="Arial"/>
                <a:ea typeface="Arial"/>
                <a:cs typeface="Arial"/>
              </a:defRPr>
            </a:pPr>
            <a:r>
              <a:rPr sz="3300" b="1">
                <a:solidFill>
                  <a:srgbClr val="17343C"/>
                </a:solidFill>
                <a:latin typeface="Arial"/>
                <a:ea typeface="Arial"/>
                <a:cs typeface="Arial"/>
              </a:rPr>
              <a:t>The target and split stay fixed</a:t>
            </a:r>
          </a:p>
        </p:txBody>
      </p:sp>
      <p:sp>
        <p:nvSpPr>
          <p:cNvPr id="2" name="">
            <a:extLst xmlns:a="http://schemas.openxmlformats.org/drawingml/2006/main">
              <a:ext uri="{FF2B5EF4-FFF2-40B4-BE49-F238E27FC236}">
                <a16:creationId xmlns:a16="http://schemas.microsoft.com/office/drawing/2014/main" id="{8A8AB354-4A40-491B-87B4-786519FF1A04}"/>
              </a:ext>
            </a:extLst>
          </p:cNvPr>
          <p:cNvSpPr>
            <a:spLocks xmlns:a="http://schemas.openxmlformats.org/drawingml/2006/main" noGrp="1"/>
          </p:cNvSpPr>
          <p:nvPr/>
        </p:nvSpPr>
        <p:spPr>
          <a:xfrm xmlns:a="http://schemas.openxmlformats.org/drawingml/2006/main">
            <a:off x="10763250" y="638175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78792"/>
                </a:solidFill>
                <a:latin typeface="Arial"/>
                <a:ea typeface="Arial"/>
                <a:cs typeface="Arial"/>
              </a:defRPr>
            </a:defPPr>
            <a:lvl1pPr>
              <a:buNone/>
              <a:defRPr sz="1350" b="0">
                <a:solidFill>
                  <a:srgbClr val="778792"/>
                </a:solidFill>
                <a:latin typeface="Arial"/>
                <a:ea typeface="Arial"/>
                <a:cs typeface="Arial"/>
              </a:defRPr>
            </a:lvl1pPr>
            <a:lvl2pPr>
              <a:buNone/>
              <a:defRPr sz="1350" b="0">
                <a:solidFill>
                  <a:srgbClr val="778792"/>
                </a:solidFill>
                <a:latin typeface="Arial"/>
                <a:ea typeface="Arial"/>
                <a:cs typeface="Arial"/>
              </a:defRPr>
            </a:lvl2pPr>
            <a:lvl3pPr>
              <a:buNone/>
              <a:defRPr sz="1350" b="0">
                <a:solidFill>
                  <a:srgbClr val="778792"/>
                </a:solidFill>
                <a:latin typeface="Arial"/>
                <a:ea typeface="Arial"/>
                <a:cs typeface="Arial"/>
              </a:defRPr>
            </a:lvl3pPr>
            <a:lvl4pPr>
              <a:buNone/>
              <a:defRPr sz="1350" b="0">
                <a:solidFill>
                  <a:srgbClr val="778792"/>
                </a:solidFill>
                <a:latin typeface="Arial"/>
                <a:ea typeface="Arial"/>
                <a:cs typeface="Arial"/>
              </a:defRPr>
            </a:lvl4pPr>
            <a:lvl5pPr>
              <a:buNone/>
              <a:defRPr sz="1350" b="0">
                <a:solidFill>
                  <a:srgbClr val="778792"/>
                </a:solidFill>
                <a:latin typeface="Arial"/>
                <a:ea typeface="Arial"/>
                <a:cs typeface="Arial"/>
              </a:defRPr>
            </a:lvl5pPr>
            <a:lvl6pPr>
              <a:buNone/>
              <a:defRPr sz="1350" b="0">
                <a:solidFill>
                  <a:srgbClr val="778792"/>
                </a:solidFill>
                <a:latin typeface="Arial"/>
                <a:ea typeface="Arial"/>
                <a:cs typeface="Arial"/>
              </a:defRPr>
            </a:lvl6pPr>
            <a:lvl7pPr>
              <a:buNone/>
              <a:defRPr sz="1350" b="0">
                <a:solidFill>
                  <a:srgbClr val="778792"/>
                </a:solidFill>
                <a:latin typeface="Arial"/>
                <a:ea typeface="Arial"/>
                <a:cs typeface="Arial"/>
              </a:defRPr>
            </a:lvl7pPr>
            <a:lvl8pPr>
              <a:buNone/>
              <a:defRPr sz="1350" b="0">
                <a:solidFill>
                  <a:srgbClr val="778792"/>
                </a:solidFill>
                <a:latin typeface="Arial"/>
                <a:ea typeface="Arial"/>
                <a:cs typeface="Arial"/>
              </a:defRPr>
            </a:lvl8pPr>
            <a:lvl9pPr>
              <a:buNone/>
              <a:defRPr sz="1350" b="0">
                <a:solidFill>
                  <a:srgbClr val="778792"/>
                </a:solidFill>
                <a:latin typeface="Arial"/>
                <a:ea typeface="Arial"/>
                <a:cs typeface="Arial"/>
              </a:defRPr>
            </a:lvl9pPr>
          </a:lstStyle>
          <a:p xmlns:a="http://schemas.openxmlformats.org/drawingml/2006/main">
            <a:pPr>
              <a:buNone/>
              <a:defRPr sz="1350" b="0">
                <a:solidFill>
                  <a:srgbClr val="778792"/>
                </a:solidFill>
                <a:latin typeface="Arial"/>
                <a:ea typeface="Arial"/>
                <a:cs typeface="Arial"/>
              </a:defRPr>
            </a:pPr>
            <a:r>
              <a:rPr sz="1350" b="0">
                <a:solidFill>
                  <a:srgbClr val="778792"/>
                </a:solidFill>
                <a:latin typeface="Arial"/>
                <a:ea typeface="Arial"/>
                <a:cs typeface="Arial"/>
              </a:rPr>
              <a:t>03 / 09</a:t>
            </a:r>
          </a:p>
        </p:txBody>
      </p:sp>
      <p:sp>
        <p:nvSpPr>
          <p:cNvPr id="3" name="">
            <a:extLst xmlns:a="http://schemas.openxmlformats.org/drawingml/2006/main">
              <a:ext uri="{FF2B5EF4-FFF2-40B4-BE49-F238E27FC236}">
                <a16:creationId xmlns:a16="http://schemas.microsoft.com/office/drawing/2014/main" id="{3DDBEBCC-900E-4D08-95C8-30D8718EC3AB}"/>
              </a:ext>
            </a:extLst>
          </p:cNvPr>
          <p:cNvSpPr>
            <a:spLocks xmlns:a="http://schemas.openxmlformats.org/drawingml/2006/main" noGrp="1"/>
          </p:cNvSpPr>
          <p:nvPr/>
        </p:nvSpPr>
        <p:spPr>
          <a:xfrm xmlns:a="http://schemas.openxmlformats.org/drawingml/2006/main">
            <a:off x="714375" y="1381125"/>
            <a:ext cx="523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6B68"/>
                </a:solidFill>
                <a:latin typeface="Arial"/>
                <a:ea typeface="Arial"/>
                <a:cs typeface="Arial"/>
              </a:defRPr>
            </a:defPPr>
            <a:lvl1pPr>
              <a:buNone/>
              <a:defRPr sz="2925" b="1">
                <a:solidFill>
                  <a:srgbClr val="176B68"/>
                </a:solidFill>
                <a:latin typeface="Arial"/>
                <a:ea typeface="Arial"/>
                <a:cs typeface="Arial"/>
              </a:defRPr>
            </a:lvl1pPr>
            <a:lvl2pPr>
              <a:buNone/>
              <a:defRPr sz="2925" b="1">
                <a:solidFill>
                  <a:srgbClr val="176B68"/>
                </a:solidFill>
                <a:latin typeface="Arial"/>
                <a:ea typeface="Arial"/>
                <a:cs typeface="Arial"/>
              </a:defRPr>
            </a:lvl2pPr>
            <a:lvl3pPr>
              <a:buNone/>
              <a:defRPr sz="2925" b="1">
                <a:solidFill>
                  <a:srgbClr val="176B68"/>
                </a:solidFill>
                <a:latin typeface="Arial"/>
                <a:ea typeface="Arial"/>
                <a:cs typeface="Arial"/>
              </a:defRPr>
            </a:lvl3pPr>
            <a:lvl4pPr>
              <a:buNone/>
              <a:defRPr sz="2925" b="1">
                <a:solidFill>
                  <a:srgbClr val="176B68"/>
                </a:solidFill>
                <a:latin typeface="Arial"/>
                <a:ea typeface="Arial"/>
                <a:cs typeface="Arial"/>
              </a:defRPr>
            </a:lvl4pPr>
            <a:lvl5pPr>
              <a:buNone/>
              <a:defRPr sz="2925" b="1">
                <a:solidFill>
                  <a:srgbClr val="176B68"/>
                </a:solidFill>
                <a:latin typeface="Arial"/>
                <a:ea typeface="Arial"/>
                <a:cs typeface="Arial"/>
              </a:defRPr>
            </a:lvl5pPr>
            <a:lvl6pPr>
              <a:buNone/>
              <a:defRPr sz="2925" b="1">
                <a:solidFill>
                  <a:srgbClr val="176B68"/>
                </a:solidFill>
                <a:latin typeface="Arial"/>
                <a:ea typeface="Arial"/>
                <a:cs typeface="Arial"/>
              </a:defRPr>
            </a:lvl6pPr>
            <a:lvl7pPr>
              <a:buNone/>
              <a:defRPr sz="2925" b="1">
                <a:solidFill>
                  <a:srgbClr val="176B68"/>
                </a:solidFill>
                <a:latin typeface="Arial"/>
                <a:ea typeface="Arial"/>
                <a:cs typeface="Arial"/>
              </a:defRPr>
            </a:lvl7pPr>
            <a:lvl8pPr>
              <a:buNone/>
              <a:defRPr sz="2925" b="1">
                <a:solidFill>
                  <a:srgbClr val="176B68"/>
                </a:solidFill>
                <a:latin typeface="Arial"/>
                <a:ea typeface="Arial"/>
                <a:cs typeface="Arial"/>
              </a:defRPr>
            </a:lvl8pPr>
            <a:lvl9pPr>
              <a:buNone/>
              <a:defRPr sz="2925" b="1">
                <a:solidFill>
                  <a:srgbClr val="176B68"/>
                </a:solidFill>
                <a:latin typeface="Arial"/>
                <a:ea typeface="Arial"/>
                <a:cs typeface="Arial"/>
              </a:defRPr>
            </a:lvl9pPr>
          </a:lstStyle>
          <a:p xmlns:a="http://schemas.openxmlformats.org/drawingml/2006/main">
            <a:pPr>
              <a:buNone/>
              <a:defRPr sz="2925" b="1">
                <a:solidFill>
                  <a:srgbClr val="176B68"/>
                </a:solidFill>
                <a:latin typeface="Arial"/>
                <a:ea typeface="Arial"/>
                <a:cs typeface="Arial"/>
              </a:defRPr>
            </a:pPr>
            <a:r>
              <a:rPr sz="2925" b="1">
                <a:solidFill>
                  <a:srgbClr val="176B68"/>
                </a:solidFill>
                <a:latin typeface="Arial"/>
                <a:ea typeface="Arial"/>
                <a:cs typeface="Arial"/>
              </a:rPr>
              <a:t>4,183 training games</a:t>
            </a:r>
          </a:p>
        </p:txBody>
      </p:sp>
      <p:sp>
        <p:nvSpPr>
          <p:cNvPr id="4" name="">
            <a:extLst xmlns:a="http://schemas.openxmlformats.org/drawingml/2006/main">
              <a:ext uri="{FF2B5EF4-FFF2-40B4-BE49-F238E27FC236}">
                <a16:creationId xmlns:a16="http://schemas.microsoft.com/office/drawing/2014/main" id="{6A16095F-9BC2-4788-9025-B05B77B9AB71}"/>
              </a:ext>
            </a:extLst>
          </p:cNvPr>
          <p:cNvSpPr>
            <a:spLocks xmlns:a="http://schemas.openxmlformats.org/drawingml/2006/main" noGrp="1"/>
          </p:cNvSpPr>
          <p:nvPr/>
        </p:nvSpPr>
        <p:spPr>
          <a:xfrm xmlns:a="http://schemas.openxmlformats.org/drawingml/2006/main">
            <a:off x="6381750" y="1381125"/>
            <a:ext cx="514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6B68"/>
                </a:solidFill>
                <a:latin typeface="Arial"/>
                <a:ea typeface="Arial"/>
                <a:cs typeface="Arial"/>
              </a:defRPr>
            </a:defPPr>
            <a:lvl1pPr>
              <a:buNone/>
              <a:defRPr sz="2925" b="1">
                <a:solidFill>
                  <a:srgbClr val="176B68"/>
                </a:solidFill>
                <a:latin typeface="Arial"/>
                <a:ea typeface="Arial"/>
                <a:cs typeface="Arial"/>
              </a:defRPr>
            </a:lvl1pPr>
            <a:lvl2pPr>
              <a:buNone/>
              <a:defRPr sz="2925" b="1">
                <a:solidFill>
                  <a:srgbClr val="176B68"/>
                </a:solidFill>
                <a:latin typeface="Arial"/>
                <a:ea typeface="Arial"/>
                <a:cs typeface="Arial"/>
              </a:defRPr>
            </a:lvl2pPr>
            <a:lvl3pPr>
              <a:buNone/>
              <a:defRPr sz="2925" b="1">
                <a:solidFill>
                  <a:srgbClr val="176B68"/>
                </a:solidFill>
                <a:latin typeface="Arial"/>
                <a:ea typeface="Arial"/>
                <a:cs typeface="Arial"/>
              </a:defRPr>
            </a:lvl3pPr>
            <a:lvl4pPr>
              <a:buNone/>
              <a:defRPr sz="2925" b="1">
                <a:solidFill>
                  <a:srgbClr val="176B68"/>
                </a:solidFill>
                <a:latin typeface="Arial"/>
                <a:ea typeface="Arial"/>
                <a:cs typeface="Arial"/>
              </a:defRPr>
            </a:lvl4pPr>
            <a:lvl5pPr>
              <a:buNone/>
              <a:defRPr sz="2925" b="1">
                <a:solidFill>
                  <a:srgbClr val="176B68"/>
                </a:solidFill>
                <a:latin typeface="Arial"/>
                <a:ea typeface="Arial"/>
                <a:cs typeface="Arial"/>
              </a:defRPr>
            </a:lvl5pPr>
            <a:lvl6pPr>
              <a:buNone/>
              <a:defRPr sz="2925" b="1">
                <a:solidFill>
                  <a:srgbClr val="176B68"/>
                </a:solidFill>
                <a:latin typeface="Arial"/>
                <a:ea typeface="Arial"/>
                <a:cs typeface="Arial"/>
              </a:defRPr>
            </a:lvl6pPr>
            <a:lvl7pPr>
              <a:buNone/>
              <a:defRPr sz="2925" b="1">
                <a:solidFill>
                  <a:srgbClr val="176B68"/>
                </a:solidFill>
                <a:latin typeface="Arial"/>
                <a:ea typeface="Arial"/>
                <a:cs typeface="Arial"/>
              </a:defRPr>
            </a:lvl7pPr>
            <a:lvl8pPr>
              <a:buNone/>
              <a:defRPr sz="2925" b="1">
                <a:solidFill>
                  <a:srgbClr val="176B68"/>
                </a:solidFill>
                <a:latin typeface="Arial"/>
                <a:ea typeface="Arial"/>
                <a:cs typeface="Arial"/>
              </a:defRPr>
            </a:lvl8pPr>
            <a:lvl9pPr>
              <a:buNone/>
              <a:defRPr sz="2925" b="1">
                <a:solidFill>
                  <a:srgbClr val="176B68"/>
                </a:solidFill>
                <a:latin typeface="Arial"/>
                <a:ea typeface="Arial"/>
                <a:cs typeface="Arial"/>
              </a:defRPr>
            </a:lvl9pPr>
          </a:lstStyle>
          <a:p xmlns:a="http://schemas.openxmlformats.org/drawingml/2006/main">
            <a:pPr>
              <a:buNone/>
              <a:defRPr sz="2925" b="1">
                <a:solidFill>
                  <a:srgbClr val="176B68"/>
                </a:solidFill>
                <a:latin typeface="Arial"/>
                <a:ea typeface="Arial"/>
                <a:cs typeface="Arial"/>
              </a:defRPr>
            </a:pPr>
            <a:r>
              <a:rPr sz="2925" b="1">
                <a:solidFill>
                  <a:srgbClr val="176B68"/>
                </a:solidFill>
                <a:latin typeface="Arial"/>
                <a:ea typeface="Arial"/>
                <a:cs typeface="Arial"/>
              </a:rPr>
              <a:t>1,046 frozen test games</a:t>
            </a:r>
          </a:p>
        </p:txBody>
      </p:sp>
      <p:graphicFrame>
        <p:nvGraphicFramePr>
          <p:cNvPr id="5" name="">
            <a:extLst xmlns:a="http://schemas.openxmlformats.org/drawingml/2006/main">
              <a:ext uri="{FF2B5EF4-FFF2-40B4-BE49-F238E27FC236}">
                <a16:creationId xmlns:a16="http://schemas.microsoft.com/office/drawing/2014/main" id="{E4257DD2-B3AB-4241-9921-EB1843E8198F}"/>
              </a:ext>
            </a:extLst>
          </p:cNvPr>
          <p:cNvGraphicFramePr/>
          <p:nvPr/>
        </p:nvGraphicFramePr>
        <p:xfrm>
          <a:off xmlns:a="http://schemas.openxmlformats.org/drawingml/2006/main" x="714375" y="2333625"/>
          <a:ext xmlns:a="http://schemas.openxmlformats.org/drawingml/2006/main" cx="10763250" cy="2667000"/>
        </p:xfrm>
        <a:graphic xmlns:a="http://schemas.openxmlformats.org/drawingml/2006/main">
          <a:graphicData uri="http://schemas.openxmlformats.org/drawingml/2006/table">
            <a:tbl>
              <a:tblPr/>
              <a:tblGrid>
                <a:gridCol w="3587750"/>
                <a:gridCol w="7175500"/>
              </a:tblGrid>
              <a:tr h="533400">
                <a:tc>
                  <a:txBody>
                    <a:bodyPr/>
                    <a:lstStyle/>
                    <a:p>
                      <a:r>
                        <a:rPr sz="1725" b="1">
                          <a:solidFill>
                            <a:srgbClr val="FFFFFF"/>
                          </a:solidFill>
                          <a:latin typeface="Arial"/>
                          <a:ea typeface="Arial"/>
                          <a:cs typeface="Arial"/>
                        </a:rPr>
                        <a:t>Feature family</a:t>
                      </a:r>
                    </a:p>
                  </a:txBody>
                  <a:tcPr marL="91440" marR="91440" marT="45720" marB="45720">
                    <a:lnL w="5715">
                      <a:solidFill>
                        <a:srgbClr val="E4EAE9"/>
                      </a:solidFill>
                      <a:prstDash val="solid"/>
                    </a:lnL>
                    <a:lnR w="5715">
                      <a:solidFill>
                        <a:srgbClr val="E4EAE9"/>
                      </a:solidFill>
                      <a:prstDash val="solid"/>
                    </a:lnR>
                    <a:lnT w="5715">
                      <a:solidFill>
                        <a:srgbClr val="E4EAE9"/>
                      </a:solidFill>
                      <a:prstDash val="solid"/>
                    </a:lnT>
                    <a:lnB w="5715">
                      <a:solidFill>
                        <a:srgbClr val="E4EAE9"/>
                      </a:solidFill>
                      <a:prstDash val="solid"/>
                    </a:lnB>
                    <a:solidFill>
                      <a:srgbClr val="176B68"/>
                    </a:solidFill>
                  </a:tcPr>
                </a:tc>
                <a:tc>
                  <a:txBody>
                    <a:bodyPr/>
                    <a:lstStyle/>
                    <a:p>
                      <a:r>
                        <a:rPr sz="1725" b="1">
                          <a:solidFill>
                            <a:srgbClr val="FFFFFF"/>
                          </a:solidFill>
                          <a:latin typeface="Arial"/>
                          <a:ea typeface="Arial"/>
                          <a:cs typeface="Arial"/>
                        </a:rPr>
                        <a:t>Why it could explain duration</a:t>
                      </a:r>
                    </a:p>
                  </a:txBody>
                  <a:tcPr marL="91440" marR="91440" marT="45720" marB="45720">
                    <a:lnR w="5715">
                      <a:solidFill>
                        <a:srgbClr val="E4EAE9"/>
                      </a:solidFill>
                      <a:prstDash val="solid"/>
                    </a:lnR>
                    <a:lnT w="5715">
                      <a:solidFill>
                        <a:srgbClr val="E4EAE9"/>
                      </a:solidFill>
                      <a:prstDash val="solid"/>
                    </a:lnT>
                    <a:lnB w="5715">
                      <a:solidFill>
                        <a:srgbClr val="E4EAE9"/>
                      </a:solidFill>
                      <a:prstDash val="solid"/>
                    </a:lnB>
                    <a:solidFill>
                      <a:srgbClr val="176B68"/>
                    </a:solidFill>
                  </a:tcPr>
                </a:tc>
              </a:tr>
              <a:tr h="533400">
                <a:tc>
                  <a:txBody>
                    <a:bodyPr/>
                    <a:lstStyle/>
                    <a:p>
                      <a:r>
                        <a:rPr sz="1725" b="0">
                          <a:solidFill>
                            <a:srgbClr val="17343C"/>
                          </a:solidFill>
                          <a:latin typeface="Arial"/>
                          <a:ea typeface="Arial"/>
                          <a:cs typeface="Arial"/>
                        </a:rPr>
                        <a:t>Themes and gameplay tags</a:t>
                      </a:r>
                    </a:p>
                  </a:txBody>
                  <a:tcPr marL="91440" marR="91440" marT="45720" marB="45720">
                    <a:lnL w="5715">
                      <a:solidFill>
                        <a:srgbClr val="E4EAE9"/>
                      </a:solidFill>
                      <a:prstDash val="solid"/>
                    </a:lnL>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Game structure and mechanics</a:t>
                      </a:r>
                    </a:p>
                  </a:txBody>
                  <a:tcPr marL="91440" marR="91440" marT="45720" marB="45720">
                    <a:lnR w="5715">
                      <a:solidFill>
                        <a:srgbClr val="E4EAE9"/>
                      </a:solidFill>
                      <a:prstDash val="solid"/>
                    </a:lnR>
                    <a:lnB w="5715">
                      <a:solidFill>
                        <a:srgbClr val="E4EAE9"/>
                      </a:solidFill>
                      <a:prstDash val="solid"/>
                    </a:lnB>
                    <a:solidFill>
                      <a:srgbClr val="FFFFFF"/>
                    </a:solidFill>
                  </a:tcPr>
                </a:tc>
              </a:tr>
              <a:tr h="533400">
                <a:tc>
                  <a:txBody>
                    <a:bodyPr/>
                    <a:lstStyle/>
                    <a:p>
                      <a:r>
                        <a:rPr sz="1725" b="0">
                          <a:solidFill>
                            <a:srgbClr val="17343C"/>
                          </a:solidFill>
                          <a:latin typeface="Arial"/>
                          <a:ea typeface="Arial"/>
                          <a:cs typeface="Arial"/>
                        </a:rPr>
                        <a:t>Modes and perspectives</a:t>
                      </a:r>
                    </a:p>
                  </a:txBody>
                  <a:tcPr marL="91440" marR="91440" marT="45720" marB="45720">
                    <a:lnL w="5715">
                      <a:solidFill>
                        <a:srgbClr val="E4EAE9"/>
                      </a:solidFill>
                      <a:prstDash val="solid"/>
                    </a:lnL>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Solo campaigns and style of play</a:t>
                      </a:r>
                    </a:p>
                  </a:txBody>
                  <a:tcPr marL="91440" marR="91440" marT="45720" marB="45720">
                    <a:lnR w="5715">
                      <a:solidFill>
                        <a:srgbClr val="E4EAE9"/>
                      </a:solidFill>
                      <a:prstDash val="solid"/>
                    </a:lnR>
                    <a:lnB w="5715">
                      <a:solidFill>
                        <a:srgbClr val="E4EAE9"/>
                      </a:solidFill>
                      <a:prstDash val="solid"/>
                    </a:lnB>
                    <a:solidFill>
                      <a:srgbClr val="FFFFFF"/>
                    </a:solidFill>
                  </a:tcPr>
                </a:tc>
              </a:tr>
              <a:tr h="533400">
                <a:tc>
                  <a:txBody>
                    <a:bodyPr/>
                    <a:lstStyle/>
                    <a:p>
                      <a:r>
                        <a:rPr sz="1725" b="0">
                          <a:solidFill>
                            <a:srgbClr val="17343C"/>
                          </a:solidFill>
                          <a:latin typeface="Arial"/>
                          <a:ea typeface="Arial"/>
                          <a:cs typeface="Arial"/>
                        </a:rPr>
                        <a:t>Platforms and game type</a:t>
                      </a:r>
                    </a:p>
                  </a:txBody>
                  <a:tcPr marL="91440" marR="91440" marT="45720" marB="45720">
                    <a:lnL w="5715">
                      <a:solidFill>
                        <a:srgbClr val="E4EAE9"/>
                      </a:solidFill>
                      <a:prstDash val="solid"/>
                    </a:lnL>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Release format and game context</a:t>
                      </a:r>
                    </a:p>
                  </a:txBody>
                  <a:tcPr marL="91440" marR="91440" marT="45720" marB="45720">
                    <a:lnR w="5715">
                      <a:solidFill>
                        <a:srgbClr val="E4EAE9"/>
                      </a:solidFill>
                      <a:prstDash val="solid"/>
                    </a:lnR>
                    <a:lnB w="5715">
                      <a:solidFill>
                        <a:srgbClr val="E4EAE9"/>
                      </a:solidFill>
                      <a:prstDash val="solid"/>
                    </a:lnB>
                    <a:solidFill>
                      <a:srgbClr val="FFFFFF"/>
                    </a:solidFill>
                  </a:tcPr>
                </a:tc>
              </a:tr>
              <a:tr h="533400">
                <a:tc>
                  <a:txBody>
                    <a:bodyPr/>
                    <a:lstStyle/>
                    <a:p>
                      <a:r>
                        <a:rPr sz="1725" b="0">
                          <a:solidFill>
                            <a:srgbClr val="17343C"/>
                          </a:solidFill>
                          <a:latin typeface="Arial"/>
                          <a:ea typeface="Arial"/>
                          <a:cs typeface="Arial"/>
                        </a:rPr>
                        <a:t>Price and store categories</a:t>
                      </a:r>
                    </a:p>
                  </a:txBody>
                  <a:tcPr marL="91440" marR="91440" marT="45720" marB="45720">
                    <a:lnL w="5715">
                      <a:solidFill>
                        <a:srgbClr val="E4EAE9"/>
                      </a:solidFill>
                      <a:prstDash val="solid"/>
                    </a:lnL>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Product scope and supported features</a:t>
                      </a:r>
                    </a:p>
                  </a:txBody>
                  <a:tcPr marL="91440" marR="91440" marT="45720" marB="45720">
                    <a:lnR w="5715">
                      <a:solidFill>
                        <a:srgbClr val="E4EAE9"/>
                      </a:solidFill>
                      <a:prstDash val="solid"/>
                    </a:lnR>
                    <a:lnB w="5715">
                      <a:solidFill>
                        <a:srgbClr val="E4EAE9"/>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4D5D686-AA26-4698-B209-8155096ABD85}"/>
              </a:ext>
            </a:extLst>
          </p:cNvPr>
          <p:cNvSpPr>
            <a:spLocks xmlns:a="http://schemas.openxmlformats.org/drawingml/2006/main" noGrp="1"/>
          </p:cNvSpPr>
          <p:nvPr/>
        </p:nvSpPr>
        <p:spPr>
          <a:xfrm xmlns:a="http://schemas.openxmlformats.org/drawingml/2006/main">
            <a:off x="714375" y="53816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43C"/>
                </a:solidFill>
                <a:latin typeface="Arial"/>
                <a:ea typeface="Arial"/>
                <a:cs typeface="Arial"/>
              </a:defRPr>
            </a:defPPr>
            <a:lvl1pPr>
              <a:buNone/>
              <a:defRPr sz="1875" b="0">
                <a:solidFill>
                  <a:srgbClr val="17343C"/>
                </a:solidFill>
                <a:latin typeface="Arial"/>
                <a:ea typeface="Arial"/>
                <a:cs typeface="Arial"/>
              </a:defRPr>
            </a:lvl1pPr>
            <a:lvl2pPr>
              <a:buNone/>
              <a:defRPr sz="1875" b="0">
                <a:solidFill>
                  <a:srgbClr val="17343C"/>
                </a:solidFill>
                <a:latin typeface="Arial"/>
                <a:ea typeface="Arial"/>
                <a:cs typeface="Arial"/>
              </a:defRPr>
            </a:lvl2pPr>
            <a:lvl3pPr>
              <a:buNone/>
              <a:defRPr sz="1875" b="0">
                <a:solidFill>
                  <a:srgbClr val="17343C"/>
                </a:solidFill>
                <a:latin typeface="Arial"/>
                <a:ea typeface="Arial"/>
                <a:cs typeface="Arial"/>
              </a:defRPr>
            </a:lvl3pPr>
            <a:lvl4pPr>
              <a:buNone/>
              <a:defRPr sz="1875" b="0">
                <a:solidFill>
                  <a:srgbClr val="17343C"/>
                </a:solidFill>
                <a:latin typeface="Arial"/>
                <a:ea typeface="Arial"/>
                <a:cs typeface="Arial"/>
              </a:defRPr>
            </a:lvl4pPr>
            <a:lvl5pPr>
              <a:buNone/>
              <a:defRPr sz="1875" b="0">
                <a:solidFill>
                  <a:srgbClr val="17343C"/>
                </a:solidFill>
                <a:latin typeface="Arial"/>
                <a:ea typeface="Arial"/>
                <a:cs typeface="Arial"/>
              </a:defRPr>
            </a:lvl5pPr>
            <a:lvl6pPr>
              <a:buNone/>
              <a:defRPr sz="1875" b="0">
                <a:solidFill>
                  <a:srgbClr val="17343C"/>
                </a:solidFill>
                <a:latin typeface="Arial"/>
                <a:ea typeface="Arial"/>
                <a:cs typeface="Arial"/>
              </a:defRPr>
            </a:lvl6pPr>
            <a:lvl7pPr>
              <a:buNone/>
              <a:defRPr sz="1875" b="0">
                <a:solidFill>
                  <a:srgbClr val="17343C"/>
                </a:solidFill>
                <a:latin typeface="Arial"/>
                <a:ea typeface="Arial"/>
                <a:cs typeface="Arial"/>
              </a:defRPr>
            </a:lvl7pPr>
            <a:lvl8pPr>
              <a:buNone/>
              <a:defRPr sz="1875" b="0">
                <a:solidFill>
                  <a:srgbClr val="17343C"/>
                </a:solidFill>
                <a:latin typeface="Arial"/>
                <a:ea typeface="Arial"/>
                <a:cs typeface="Arial"/>
              </a:defRPr>
            </a:lvl8pPr>
            <a:lvl9pPr>
              <a:buNone/>
              <a:defRPr sz="1875" b="0">
                <a:solidFill>
                  <a:srgbClr val="17343C"/>
                </a:solidFill>
                <a:latin typeface="Arial"/>
                <a:ea typeface="Arial"/>
                <a:cs typeface="Arial"/>
              </a:defRPr>
            </a:lvl9pPr>
          </a:lstStyle>
          <a:p xmlns:a="http://schemas.openxmlformats.org/drawingml/2006/main">
            <a:pPr>
              <a:buNone/>
              <a:defRPr sz="1875" b="0">
                <a:solidFill>
                  <a:srgbClr val="17343C"/>
                </a:solidFill>
                <a:latin typeface="Arial"/>
                <a:ea typeface="Arial"/>
                <a:cs typeface="Arial"/>
              </a:defRPr>
            </a:pPr>
            <a:r>
              <a:rPr sz="1875" b="0">
                <a:solidFill>
                  <a:srgbClr val="17343C"/>
                </a:solidFill>
                <a:latin typeface="Arial"/>
                <a:ea typeface="Arial"/>
                <a:cs typeface="Arial"/>
              </a:rPr>
              <a:t>Target: IGDB main-story hours. Fixed labels and split.</a:t>
            </a:r>
          </a:p>
          <a:p xmlns:a="http://schemas.openxmlformats.org/drawingml/2006/main">
            <a:pPr>
              <a:buNone/>
              <a:defRPr sz="1875" b="0">
                <a:solidFill>
                  <a:srgbClr val="17343C"/>
                </a:solidFill>
                <a:latin typeface="Arial"/>
                <a:ea typeface="Arial"/>
                <a:cs typeface="Arial"/>
              </a:defRPr>
            </a:pPr>
            <a:r>
              <a:rPr sz="1875" b="0">
                <a:solidFill>
                  <a:srgbClr val="17343C"/>
                </a:solidFill>
                <a:latin typeface="Arial"/>
                <a:ea typeface="Arial"/>
                <a:cs typeface="Arial"/>
              </a:rPr>
              <a:t>Training-only preprocessing and three-fold CV.</a:t>
            </a:r>
          </a:p>
        </p:txBody>
      </p:sp>
    </p:spTree>
    <p:extLst>
      <p:ext uri="{BB962C8B-B14F-4D97-AF65-F5344CB8AC3E}">
        <p14:creationId xmlns:p14="http://schemas.microsoft.com/office/powerpoint/2010/main" val="16894442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486DCD-A52A-4BE4-9284-B0F00D658C7A}"/>
              </a:ext>
            </a:extLst>
          </p:cNvPr>
          <p:cNvSpPr>
            <a:spLocks xmlns:a="http://schemas.openxmlformats.org/drawingml/2006/main" noGrp="1"/>
          </p:cNvSpPr>
          <p:nvPr/>
        </p:nvSpPr>
        <p:spPr>
          <a:xfrm xmlns:a="http://schemas.openxmlformats.org/drawingml/2006/main">
            <a:off x="590550" y="400050"/>
            <a:ext cx="11010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3C"/>
                </a:solidFill>
                <a:latin typeface="Arial"/>
                <a:ea typeface="Arial"/>
                <a:cs typeface="Arial"/>
              </a:defRPr>
            </a:defPPr>
            <a:lvl1pPr>
              <a:buNone/>
              <a:defRPr sz="3300" b="1">
                <a:solidFill>
                  <a:srgbClr val="17343C"/>
                </a:solidFill>
                <a:latin typeface="Arial"/>
                <a:ea typeface="Arial"/>
                <a:cs typeface="Arial"/>
              </a:defRPr>
            </a:lvl1pPr>
            <a:lvl2pPr>
              <a:buNone/>
              <a:defRPr sz="3300" b="1">
                <a:solidFill>
                  <a:srgbClr val="17343C"/>
                </a:solidFill>
                <a:latin typeface="Arial"/>
                <a:ea typeface="Arial"/>
                <a:cs typeface="Arial"/>
              </a:defRPr>
            </a:lvl2pPr>
            <a:lvl3pPr>
              <a:buNone/>
              <a:defRPr sz="3300" b="1">
                <a:solidFill>
                  <a:srgbClr val="17343C"/>
                </a:solidFill>
                <a:latin typeface="Arial"/>
                <a:ea typeface="Arial"/>
                <a:cs typeface="Arial"/>
              </a:defRPr>
            </a:lvl3pPr>
            <a:lvl4pPr>
              <a:buNone/>
              <a:defRPr sz="3300" b="1">
                <a:solidFill>
                  <a:srgbClr val="17343C"/>
                </a:solidFill>
                <a:latin typeface="Arial"/>
                <a:ea typeface="Arial"/>
                <a:cs typeface="Arial"/>
              </a:defRPr>
            </a:lvl4pPr>
            <a:lvl5pPr>
              <a:buNone/>
              <a:defRPr sz="3300" b="1">
                <a:solidFill>
                  <a:srgbClr val="17343C"/>
                </a:solidFill>
                <a:latin typeface="Arial"/>
                <a:ea typeface="Arial"/>
                <a:cs typeface="Arial"/>
              </a:defRPr>
            </a:lvl5pPr>
            <a:lvl6pPr>
              <a:buNone/>
              <a:defRPr sz="3300" b="1">
                <a:solidFill>
                  <a:srgbClr val="17343C"/>
                </a:solidFill>
                <a:latin typeface="Arial"/>
                <a:ea typeface="Arial"/>
                <a:cs typeface="Arial"/>
              </a:defRPr>
            </a:lvl6pPr>
            <a:lvl7pPr>
              <a:buNone/>
              <a:defRPr sz="3300" b="1">
                <a:solidFill>
                  <a:srgbClr val="17343C"/>
                </a:solidFill>
                <a:latin typeface="Arial"/>
                <a:ea typeface="Arial"/>
                <a:cs typeface="Arial"/>
              </a:defRPr>
            </a:lvl7pPr>
            <a:lvl8pPr>
              <a:buNone/>
              <a:defRPr sz="3300" b="1">
                <a:solidFill>
                  <a:srgbClr val="17343C"/>
                </a:solidFill>
                <a:latin typeface="Arial"/>
                <a:ea typeface="Arial"/>
                <a:cs typeface="Arial"/>
              </a:defRPr>
            </a:lvl8pPr>
            <a:lvl9pPr>
              <a:buNone/>
              <a:defRPr sz="3300" b="1">
                <a:solidFill>
                  <a:srgbClr val="17343C"/>
                </a:solidFill>
                <a:latin typeface="Arial"/>
                <a:ea typeface="Arial"/>
                <a:cs typeface="Arial"/>
              </a:defRPr>
            </a:lvl9pPr>
          </a:lstStyle>
          <a:p xmlns:a="http://schemas.openxmlformats.org/drawingml/2006/main">
            <a:pPr>
              <a:buNone/>
              <a:defRPr sz="3300" b="1">
                <a:solidFill>
                  <a:srgbClr val="17343C"/>
                </a:solidFill>
                <a:latin typeface="Arial"/>
                <a:ea typeface="Arial"/>
                <a:cs typeface="Arial"/>
              </a:defRPr>
            </a:pPr>
            <a:r>
              <a:rPr sz="3300" b="1">
                <a:solidFill>
                  <a:srgbClr val="17343C"/>
                </a:solidFill>
                <a:latin typeface="Arial"/>
                <a:ea typeface="Arial"/>
                <a:cs typeface="Arial"/>
              </a:rPr>
              <a:t>The value of additional feature types</a:t>
            </a:r>
          </a:p>
        </p:txBody>
      </p:sp>
      <p:sp>
        <p:nvSpPr>
          <p:cNvPr id="2" name="">
            <a:extLst xmlns:a="http://schemas.openxmlformats.org/drawingml/2006/main">
              <a:ext uri="{FF2B5EF4-FFF2-40B4-BE49-F238E27FC236}">
                <a16:creationId xmlns:a16="http://schemas.microsoft.com/office/drawing/2014/main" id="{293B27CB-A66B-4D23-B3D0-7742420FFC94}"/>
              </a:ext>
            </a:extLst>
          </p:cNvPr>
          <p:cNvSpPr>
            <a:spLocks xmlns:a="http://schemas.openxmlformats.org/drawingml/2006/main" noGrp="1"/>
          </p:cNvSpPr>
          <p:nvPr/>
        </p:nvSpPr>
        <p:spPr>
          <a:xfrm xmlns:a="http://schemas.openxmlformats.org/drawingml/2006/main">
            <a:off x="10763250" y="638175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78792"/>
                </a:solidFill>
                <a:latin typeface="Arial"/>
                <a:ea typeface="Arial"/>
                <a:cs typeface="Arial"/>
              </a:defRPr>
            </a:defPPr>
            <a:lvl1pPr>
              <a:buNone/>
              <a:defRPr sz="1350" b="0">
                <a:solidFill>
                  <a:srgbClr val="778792"/>
                </a:solidFill>
                <a:latin typeface="Arial"/>
                <a:ea typeface="Arial"/>
                <a:cs typeface="Arial"/>
              </a:defRPr>
            </a:lvl1pPr>
            <a:lvl2pPr>
              <a:buNone/>
              <a:defRPr sz="1350" b="0">
                <a:solidFill>
                  <a:srgbClr val="778792"/>
                </a:solidFill>
                <a:latin typeface="Arial"/>
                <a:ea typeface="Arial"/>
                <a:cs typeface="Arial"/>
              </a:defRPr>
            </a:lvl2pPr>
            <a:lvl3pPr>
              <a:buNone/>
              <a:defRPr sz="1350" b="0">
                <a:solidFill>
                  <a:srgbClr val="778792"/>
                </a:solidFill>
                <a:latin typeface="Arial"/>
                <a:ea typeface="Arial"/>
                <a:cs typeface="Arial"/>
              </a:defRPr>
            </a:lvl3pPr>
            <a:lvl4pPr>
              <a:buNone/>
              <a:defRPr sz="1350" b="0">
                <a:solidFill>
                  <a:srgbClr val="778792"/>
                </a:solidFill>
                <a:latin typeface="Arial"/>
                <a:ea typeface="Arial"/>
                <a:cs typeface="Arial"/>
              </a:defRPr>
            </a:lvl4pPr>
            <a:lvl5pPr>
              <a:buNone/>
              <a:defRPr sz="1350" b="0">
                <a:solidFill>
                  <a:srgbClr val="778792"/>
                </a:solidFill>
                <a:latin typeface="Arial"/>
                <a:ea typeface="Arial"/>
                <a:cs typeface="Arial"/>
              </a:defRPr>
            </a:lvl5pPr>
            <a:lvl6pPr>
              <a:buNone/>
              <a:defRPr sz="1350" b="0">
                <a:solidFill>
                  <a:srgbClr val="778792"/>
                </a:solidFill>
                <a:latin typeface="Arial"/>
                <a:ea typeface="Arial"/>
                <a:cs typeface="Arial"/>
              </a:defRPr>
            </a:lvl6pPr>
            <a:lvl7pPr>
              <a:buNone/>
              <a:defRPr sz="1350" b="0">
                <a:solidFill>
                  <a:srgbClr val="778792"/>
                </a:solidFill>
                <a:latin typeface="Arial"/>
                <a:ea typeface="Arial"/>
                <a:cs typeface="Arial"/>
              </a:defRPr>
            </a:lvl7pPr>
            <a:lvl8pPr>
              <a:buNone/>
              <a:defRPr sz="1350" b="0">
                <a:solidFill>
                  <a:srgbClr val="778792"/>
                </a:solidFill>
                <a:latin typeface="Arial"/>
                <a:ea typeface="Arial"/>
                <a:cs typeface="Arial"/>
              </a:defRPr>
            </a:lvl8pPr>
            <a:lvl9pPr>
              <a:buNone/>
              <a:defRPr sz="1350" b="0">
                <a:solidFill>
                  <a:srgbClr val="778792"/>
                </a:solidFill>
                <a:latin typeface="Arial"/>
                <a:ea typeface="Arial"/>
                <a:cs typeface="Arial"/>
              </a:defRPr>
            </a:lvl9pPr>
          </a:lstStyle>
          <a:p xmlns:a="http://schemas.openxmlformats.org/drawingml/2006/main">
            <a:pPr>
              <a:buNone/>
              <a:defRPr sz="1350" b="0">
                <a:solidFill>
                  <a:srgbClr val="778792"/>
                </a:solidFill>
                <a:latin typeface="Arial"/>
                <a:ea typeface="Arial"/>
                <a:cs typeface="Arial"/>
              </a:defRPr>
            </a:pPr>
            <a:r>
              <a:rPr sz="1350" b="0">
                <a:solidFill>
                  <a:srgbClr val="778792"/>
                </a:solidFill>
                <a:latin typeface="Arial"/>
                <a:ea typeface="Arial"/>
                <a:cs typeface="Arial"/>
              </a:rPr>
              <a:t>04 / 09</a:t>
            </a:r>
          </a:p>
        </p:txBody>
      </p:sp>
      <p:graphicFrame>
        <p:nvGraphicFramePr>
          <p:cNvPr id="3" name="Chart">
            <a:extLst xmlns:a="http://schemas.openxmlformats.org/drawingml/2006/main">
              <a:ext uri="{FF2B5EF4-FFF2-40B4-BE49-F238E27FC236}">
                <a16:creationId xmlns:a16="http://schemas.microsoft.com/office/drawing/2014/main" id="{9CC3FB88-9029-4672-B44F-1B35C4C4F5B5}"/>
              </a:ext>
            </a:extLst>
          </p:cNvPr>
          <p:cNvGraphicFramePr/>
          <p:nvPr/>
        </p:nvGraphicFramePr>
        <p:xfrm>
          <a:off xmlns:a="http://schemas.openxmlformats.org/drawingml/2006/main" x="666750" y="1476375"/>
          <a:ext xmlns:a="http://schemas.openxmlformats.org/drawingml/2006/main" cx="10763250" cy="3905250"/>
        </p:xfrm>
        <a:graphic xmlns:a="http://schemas.openxmlformats.org/drawingml/2006/main">
          <a:graphicData uri="http://schemas.openxmlformats.org/drawingml/2006/chart">
            <c:chart xmlns:r="http://schemas.openxmlformats.org/officeDocument/2006/relationships" xmlns:c="http://schemas.openxmlformats.org/drawingml/2006/chart" r:id="R5a5a6775108d4d30"/>
          </a:graphicData>
        </a:graphic>
      </p:graphicFrame>
      <p:sp>
        <p:nvSpPr>
          <p:cNvPr id="4" name="">
            <a:extLst xmlns:a="http://schemas.openxmlformats.org/drawingml/2006/main">
              <a:ext uri="{FF2B5EF4-FFF2-40B4-BE49-F238E27FC236}">
                <a16:creationId xmlns:a16="http://schemas.microsoft.com/office/drawing/2014/main" id="{E58BF40D-D7CF-46BF-926E-48C2C39FB97A}"/>
              </a:ext>
            </a:extLst>
          </p:cNvPr>
          <p:cNvSpPr>
            <a:spLocks xmlns:a="http://schemas.openxmlformats.org/drawingml/2006/main" noGrp="1"/>
          </p:cNvSpPr>
          <p:nvPr/>
        </p:nvSpPr>
        <p:spPr>
          <a:xfrm xmlns:a="http://schemas.openxmlformats.org/drawingml/2006/main">
            <a:off x="714375" y="5762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43C"/>
                </a:solidFill>
                <a:latin typeface="Arial"/>
                <a:ea typeface="Arial"/>
                <a:cs typeface="Arial"/>
              </a:defRPr>
            </a:defPPr>
            <a:lvl1pPr>
              <a:buNone/>
              <a:defRPr sz="1875" b="0">
                <a:solidFill>
                  <a:srgbClr val="17343C"/>
                </a:solidFill>
                <a:latin typeface="Arial"/>
                <a:ea typeface="Arial"/>
                <a:cs typeface="Arial"/>
              </a:defRPr>
            </a:lvl1pPr>
            <a:lvl2pPr>
              <a:buNone/>
              <a:defRPr sz="1875" b="0">
                <a:solidFill>
                  <a:srgbClr val="17343C"/>
                </a:solidFill>
                <a:latin typeface="Arial"/>
                <a:ea typeface="Arial"/>
                <a:cs typeface="Arial"/>
              </a:defRPr>
            </a:lvl2pPr>
            <a:lvl3pPr>
              <a:buNone/>
              <a:defRPr sz="1875" b="0">
                <a:solidFill>
                  <a:srgbClr val="17343C"/>
                </a:solidFill>
                <a:latin typeface="Arial"/>
                <a:ea typeface="Arial"/>
                <a:cs typeface="Arial"/>
              </a:defRPr>
            </a:lvl3pPr>
            <a:lvl4pPr>
              <a:buNone/>
              <a:defRPr sz="1875" b="0">
                <a:solidFill>
                  <a:srgbClr val="17343C"/>
                </a:solidFill>
                <a:latin typeface="Arial"/>
                <a:ea typeface="Arial"/>
                <a:cs typeface="Arial"/>
              </a:defRPr>
            </a:lvl4pPr>
            <a:lvl5pPr>
              <a:buNone/>
              <a:defRPr sz="1875" b="0">
                <a:solidFill>
                  <a:srgbClr val="17343C"/>
                </a:solidFill>
                <a:latin typeface="Arial"/>
                <a:ea typeface="Arial"/>
                <a:cs typeface="Arial"/>
              </a:defRPr>
            </a:lvl5pPr>
            <a:lvl6pPr>
              <a:buNone/>
              <a:defRPr sz="1875" b="0">
                <a:solidFill>
                  <a:srgbClr val="17343C"/>
                </a:solidFill>
                <a:latin typeface="Arial"/>
                <a:ea typeface="Arial"/>
                <a:cs typeface="Arial"/>
              </a:defRPr>
            </a:lvl6pPr>
            <a:lvl7pPr>
              <a:buNone/>
              <a:defRPr sz="1875" b="0">
                <a:solidFill>
                  <a:srgbClr val="17343C"/>
                </a:solidFill>
                <a:latin typeface="Arial"/>
                <a:ea typeface="Arial"/>
                <a:cs typeface="Arial"/>
              </a:defRPr>
            </a:lvl7pPr>
            <a:lvl8pPr>
              <a:buNone/>
              <a:defRPr sz="1875" b="0">
                <a:solidFill>
                  <a:srgbClr val="17343C"/>
                </a:solidFill>
                <a:latin typeface="Arial"/>
                <a:ea typeface="Arial"/>
                <a:cs typeface="Arial"/>
              </a:defRPr>
            </a:lvl8pPr>
            <a:lvl9pPr>
              <a:buNone/>
              <a:defRPr sz="1875" b="0">
                <a:solidFill>
                  <a:srgbClr val="17343C"/>
                </a:solidFill>
                <a:latin typeface="Arial"/>
                <a:ea typeface="Arial"/>
                <a:cs typeface="Arial"/>
              </a:defRPr>
            </a:lvl9pPr>
          </a:lstStyle>
          <a:p xmlns:a="http://schemas.openxmlformats.org/drawingml/2006/main">
            <a:pPr>
              <a:buNone/>
              <a:defRPr sz="1875" b="0">
                <a:solidFill>
                  <a:srgbClr val="17343C"/>
                </a:solidFill>
                <a:latin typeface="Arial"/>
                <a:ea typeface="Arial"/>
                <a:cs typeface="Arial"/>
              </a:defRPr>
            </a:pPr>
            <a:r>
              <a:rPr sz="1875" b="0">
                <a:solidFill>
                  <a:srgbClr val="17343C"/>
                </a:solidFill>
                <a:latin typeface="Arial"/>
                <a:ea typeface="Arial"/>
                <a:cs typeface="Arial"/>
              </a:rPr>
              <a:t>Same estimator settings within each series. Lower MAE is better.</a:t>
            </a:r>
          </a:p>
        </p:txBody>
      </p:sp>
    </p:spTree>
    <p:extLst>
      <p:ext uri="{BB962C8B-B14F-4D97-AF65-F5344CB8AC3E}">
        <p14:creationId xmlns:p14="http://schemas.microsoft.com/office/powerpoint/2010/main" val="15698079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4D7AD8-9BE3-4B7B-BA93-221BF0BB6B8D}"/>
              </a:ext>
            </a:extLst>
          </p:cNvPr>
          <p:cNvSpPr>
            <a:spLocks xmlns:a="http://schemas.openxmlformats.org/drawingml/2006/main" noGrp="1"/>
          </p:cNvSpPr>
          <p:nvPr/>
        </p:nvSpPr>
        <p:spPr>
          <a:xfrm xmlns:a="http://schemas.openxmlformats.org/drawingml/2006/main">
            <a:off x="590550" y="400050"/>
            <a:ext cx="11010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3C"/>
                </a:solidFill>
                <a:latin typeface="Arial"/>
                <a:ea typeface="Arial"/>
                <a:cs typeface="Arial"/>
              </a:defRPr>
            </a:defPPr>
            <a:lvl1pPr>
              <a:buNone/>
              <a:defRPr sz="3300" b="1">
                <a:solidFill>
                  <a:srgbClr val="17343C"/>
                </a:solidFill>
                <a:latin typeface="Arial"/>
                <a:ea typeface="Arial"/>
                <a:cs typeface="Arial"/>
              </a:defRPr>
            </a:lvl1pPr>
            <a:lvl2pPr>
              <a:buNone/>
              <a:defRPr sz="3300" b="1">
                <a:solidFill>
                  <a:srgbClr val="17343C"/>
                </a:solidFill>
                <a:latin typeface="Arial"/>
                <a:ea typeface="Arial"/>
                <a:cs typeface="Arial"/>
              </a:defRPr>
            </a:lvl2pPr>
            <a:lvl3pPr>
              <a:buNone/>
              <a:defRPr sz="3300" b="1">
                <a:solidFill>
                  <a:srgbClr val="17343C"/>
                </a:solidFill>
                <a:latin typeface="Arial"/>
                <a:ea typeface="Arial"/>
                <a:cs typeface="Arial"/>
              </a:defRPr>
            </a:lvl3pPr>
            <a:lvl4pPr>
              <a:buNone/>
              <a:defRPr sz="3300" b="1">
                <a:solidFill>
                  <a:srgbClr val="17343C"/>
                </a:solidFill>
                <a:latin typeface="Arial"/>
                <a:ea typeface="Arial"/>
                <a:cs typeface="Arial"/>
              </a:defRPr>
            </a:lvl4pPr>
            <a:lvl5pPr>
              <a:buNone/>
              <a:defRPr sz="3300" b="1">
                <a:solidFill>
                  <a:srgbClr val="17343C"/>
                </a:solidFill>
                <a:latin typeface="Arial"/>
                <a:ea typeface="Arial"/>
                <a:cs typeface="Arial"/>
              </a:defRPr>
            </a:lvl5pPr>
            <a:lvl6pPr>
              <a:buNone/>
              <a:defRPr sz="3300" b="1">
                <a:solidFill>
                  <a:srgbClr val="17343C"/>
                </a:solidFill>
                <a:latin typeface="Arial"/>
                <a:ea typeface="Arial"/>
                <a:cs typeface="Arial"/>
              </a:defRPr>
            </a:lvl6pPr>
            <a:lvl7pPr>
              <a:buNone/>
              <a:defRPr sz="3300" b="1">
                <a:solidFill>
                  <a:srgbClr val="17343C"/>
                </a:solidFill>
                <a:latin typeface="Arial"/>
                <a:ea typeface="Arial"/>
                <a:cs typeface="Arial"/>
              </a:defRPr>
            </a:lvl7pPr>
            <a:lvl8pPr>
              <a:buNone/>
              <a:defRPr sz="3300" b="1">
                <a:solidFill>
                  <a:srgbClr val="17343C"/>
                </a:solidFill>
                <a:latin typeface="Arial"/>
                <a:ea typeface="Arial"/>
                <a:cs typeface="Arial"/>
              </a:defRPr>
            </a:lvl8pPr>
            <a:lvl9pPr>
              <a:buNone/>
              <a:defRPr sz="3300" b="1">
                <a:solidFill>
                  <a:srgbClr val="17343C"/>
                </a:solidFill>
                <a:latin typeface="Arial"/>
                <a:ea typeface="Arial"/>
                <a:cs typeface="Arial"/>
              </a:defRPr>
            </a:lvl9pPr>
          </a:lstStyle>
          <a:p xmlns:a="http://schemas.openxmlformats.org/drawingml/2006/main">
            <a:pPr>
              <a:buNone/>
              <a:defRPr sz="3300" b="1">
                <a:solidFill>
                  <a:srgbClr val="17343C"/>
                </a:solidFill>
                <a:latin typeface="Arial"/>
                <a:ea typeface="Arial"/>
                <a:cs typeface="Arial"/>
              </a:defRPr>
            </a:pPr>
            <a:r>
              <a:rPr sz="3300" b="1">
                <a:solidFill>
                  <a:srgbClr val="17343C"/>
                </a:solidFill>
                <a:latin typeface="Arial"/>
                <a:ea typeface="Arial"/>
                <a:cs typeface="Arial"/>
              </a:rPr>
              <a:t>Model comparison and selection</a:t>
            </a:r>
          </a:p>
        </p:txBody>
      </p:sp>
      <p:sp>
        <p:nvSpPr>
          <p:cNvPr id="2" name="">
            <a:extLst xmlns:a="http://schemas.openxmlformats.org/drawingml/2006/main">
              <a:ext uri="{FF2B5EF4-FFF2-40B4-BE49-F238E27FC236}">
                <a16:creationId xmlns:a16="http://schemas.microsoft.com/office/drawing/2014/main" id="{9FD94D5B-BD74-4C02-B700-A54A008314B4}"/>
              </a:ext>
            </a:extLst>
          </p:cNvPr>
          <p:cNvSpPr>
            <a:spLocks xmlns:a="http://schemas.openxmlformats.org/drawingml/2006/main" noGrp="1"/>
          </p:cNvSpPr>
          <p:nvPr/>
        </p:nvSpPr>
        <p:spPr>
          <a:xfrm xmlns:a="http://schemas.openxmlformats.org/drawingml/2006/main">
            <a:off x="10763250" y="638175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78792"/>
                </a:solidFill>
                <a:latin typeface="Arial"/>
                <a:ea typeface="Arial"/>
                <a:cs typeface="Arial"/>
              </a:defRPr>
            </a:defPPr>
            <a:lvl1pPr>
              <a:buNone/>
              <a:defRPr sz="1350" b="0">
                <a:solidFill>
                  <a:srgbClr val="778792"/>
                </a:solidFill>
                <a:latin typeface="Arial"/>
                <a:ea typeface="Arial"/>
                <a:cs typeface="Arial"/>
              </a:defRPr>
            </a:lvl1pPr>
            <a:lvl2pPr>
              <a:buNone/>
              <a:defRPr sz="1350" b="0">
                <a:solidFill>
                  <a:srgbClr val="778792"/>
                </a:solidFill>
                <a:latin typeface="Arial"/>
                <a:ea typeface="Arial"/>
                <a:cs typeface="Arial"/>
              </a:defRPr>
            </a:lvl2pPr>
            <a:lvl3pPr>
              <a:buNone/>
              <a:defRPr sz="1350" b="0">
                <a:solidFill>
                  <a:srgbClr val="778792"/>
                </a:solidFill>
                <a:latin typeface="Arial"/>
                <a:ea typeface="Arial"/>
                <a:cs typeface="Arial"/>
              </a:defRPr>
            </a:lvl3pPr>
            <a:lvl4pPr>
              <a:buNone/>
              <a:defRPr sz="1350" b="0">
                <a:solidFill>
                  <a:srgbClr val="778792"/>
                </a:solidFill>
                <a:latin typeface="Arial"/>
                <a:ea typeface="Arial"/>
                <a:cs typeface="Arial"/>
              </a:defRPr>
            </a:lvl4pPr>
            <a:lvl5pPr>
              <a:buNone/>
              <a:defRPr sz="1350" b="0">
                <a:solidFill>
                  <a:srgbClr val="778792"/>
                </a:solidFill>
                <a:latin typeface="Arial"/>
                <a:ea typeface="Arial"/>
                <a:cs typeface="Arial"/>
              </a:defRPr>
            </a:lvl5pPr>
            <a:lvl6pPr>
              <a:buNone/>
              <a:defRPr sz="1350" b="0">
                <a:solidFill>
                  <a:srgbClr val="778792"/>
                </a:solidFill>
                <a:latin typeface="Arial"/>
                <a:ea typeface="Arial"/>
                <a:cs typeface="Arial"/>
              </a:defRPr>
            </a:lvl6pPr>
            <a:lvl7pPr>
              <a:buNone/>
              <a:defRPr sz="1350" b="0">
                <a:solidFill>
                  <a:srgbClr val="778792"/>
                </a:solidFill>
                <a:latin typeface="Arial"/>
                <a:ea typeface="Arial"/>
                <a:cs typeface="Arial"/>
              </a:defRPr>
            </a:lvl7pPr>
            <a:lvl8pPr>
              <a:buNone/>
              <a:defRPr sz="1350" b="0">
                <a:solidFill>
                  <a:srgbClr val="778792"/>
                </a:solidFill>
                <a:latin typeface="Arial"/>
                <a:ea typeface="Arial"/>
                <a:cs typeface="Arial"/>
              </a:defRPr>
            </a:lvl8pPr>
            <a:lvl9pPr>
              <a:buNone/>
              <a:defRPr sz="1350" b="0">
                <a:solidFill>
                  <a:srgbClr val="778792"/>
                </a:solidFill>
                <a:latin typeface="Arial"/>
                <a:ea typeface="Arial"/>
                <a:cs typeface="Arial"/>
              </a:defRPr>
            </a:lvl9pPr>
          </a:lstStyle>
          <a:p xmlns:a="http://schemas.openxmlformats.org/drawingml/2006/main">
            <a:pPr>
              <a:buNone/>
              <a:defRPr sz="1350" b="0">
                <a:solidFill>
                  <a:srgbClr val="778792"/>
                </a:solidFill>
                <a:latin typeface="Arial"/>
                <a:ea typeface="Arial"/>
                <a:cs typeface="Arial"/>
              </a:defRPr>
            </a:pPr>
            <a:r>
              <a:rPr sz="1350" b="0">
                <a:solidFill>
                  <a:srgbClr val="778792"/>
                </a:solidFill>
                <a:latin typeface="Arial"/>
                <a:ea typeface="Arial"/>
                <a:cs typeface="Arial"/>
              </a:rPr>
              <a:t>05 / 09</a:t>
            </a:r>
          </a:p>
        </p:txBody>
      </p:sp>
      <p:graphicFrame>
        <p:nvGraphicFramePr>
          <p:cNvPr id="3" name="">
            <a:extLst xmlns:a="http://schemas.openxmlformats.org/drawingml/2006/main">
              <a:ext uri="{FF2B5EF4-FFF2-40B4-BE49-F238E27FC236}">
                <a16:creationId xmlns:a16="http://schemas.microsoft.com/office/drawing/2014/main" id="{C051256E-5474-42BF-A6A3-A2A14B901180}"/>
              </a:ext>
            </a:extLst>
          </p:cNvPr>
          <p:cNvGraphicFramePr/>
          <p:nvPr/>
        </p:nvGraphicFramePr>
        <p:xfrm>
          <a:off xmlns:a="http://schemas.openxmlformats.org/drawingml/2006/main" x="619125" y="1381125"/>
          <a:ext xmlns:a="http://schemas.openxmlformats.org/drawingml/2006/main" cx="10953750" cy="3714750"/>
        </p:xfrm>
        <a:graphic xmlns:a="http://schemas.openxmlformats.org/drawingml/2006/main">
          <a:graphicData uri="http://schemas.openxmlformats.org/drawingml/2006/table">
            <a:tbl>
              <a:tblPr/>
              <a:tblGrid>
                <a:gridCol w="4198938"/>
                <a:gridCol w="2738438"/>
                <a:gridCol w="2099469"/>
                <a:gridCol w="1916906"/>
              </a:tblGrid>
              <a:tr h="464344">
                <a:tc>
                  <a:txBody>
                    <a:bodyPr/>
                    <a:lstStyle/>
                    <a:p>
                      <a:r>
                        <a:rPr sz="1725" b="1">
                          <a:solidFill>
                            <a:srgbClr val="FFFFFF"/>
                          </a:solidFill>
                          <a:latin typeface="Arial"/>
                          <a:ea typeface="Arial"/>
                          <a:cs typeface="Arial"/>
                        </a:rPr>
                        <a:t>Model</a:t>
                      </a:r>
                    </a:p>
                  </a:txBody>
                  <a:tcPr marL="91440" marR="91440" marT="45720" marB="45720">
                    <a:lnL w="5715">
                      <a:solidFill>
                        <a:srgbClr val="E4EAE9"/>
                      </a:solidFill>
                      <a:prstDash val="solid"/>
                    </a:lnL>
                    <a:lnR w="5715">
                      <a:solidFill>
                        <a:srgbClr val="E4EAE9"/>
                      </a:solidFill>
                      <a:prstDash val="solid"/>
                    </a:lnR>
                    <a:lnT w="5715">
                      <a:solidFill>
                        <a:srgbClr val="E4EAE9"/>
                      </a:solidFill>
                      <a:prstDash val="solid"/>
                    </a:lnT>
                    <a:lnB w="5715">
                      <a:solidFill>
                        <a:srgbClr val="E4EAE9"/>
                      </a:solidFill>
                      <a:prstDash val="solid"/>
                    </a:lnB>
                    <a:solidFill>
                      <a:srgbClr val="176B68"/>
                    </a:solidFill>
                  </a:tcPr>
                </a:tc>
                <a:tc>
                  <a:txBody>
                    <a:bodyPr/>
                    <a:lstStyle/>
                    <a:p>
                      <a:r>
                        <a:rPr sz="1725" b="1">
                          <a:solidFill>
                            <a:srgbClr val="FFFFFF"/>
                          </a:solidFill>
                          <a:latin typeface="Arial"/>
                          <a:ea typeface="Arial"/>
                          <a:cs typeface="Arial"/>
                        </a:rPr>
                        <a:t>CV MAE ± SD</a:t>
                      </a:r>
                    </a:p>
                  </a:txBody>
                  <a:tcPr marL="91440" marR="91440" marT="45720" marB="45720">
                    <a:lnR w="5715">
                      <a:solidFill>
                        <a:srgbClr val="E4EAE9"/>
                      </a:solidFill>
                      <a:prstDash val="solid"/>
                    </a:lnR>
                    <a:lnT w="5715">
                      <a:solidFill>
                        <a:srgbClr val="E4EAE9"/>
                      </a:solidFill>
                      <a:prstDash val="solid"/>
                    </a:lnT>
                    <a:lnB w="5715">
                      <a:solidFill>
                        <a:srgbClr val="E4EAE9"/>
                      </a:solidFill>
                      <a:prstDash val="solid"/>
                    </a:lnB>
                    <a:solidFill>
                      <a:srgbClr val="176B68"/>
                    </a:solidFill>
                  </a:tcPr>
                </a:tc>
                <a:tc>
                  <a:txBody>
                    <a:bodyPr/>
                    <a:lstStyle/>
                    <a:p>
                      <a:r>
                        <a:rPr sz="1725" b="1">
                          <a:solidFill>
                            <a:srgbClr val="FFFFFF"/>
                          </a:solidFill>
                          <a:latin typeface="Arial"/>
                          <a:ea typeface="Arial"/>
                          <a:cs typeface="Arial"/>
                        </a:rPr>
                        <a:t>Test MAE</a:t>
                      </a:r>
                    </a:p>
                  </a:txBody>
                  <a:tcPr marL="91440" marR="91440" marT="45720" marB="45720">
                    <a:lnR w="5715">
                      <a:solidFill>
                        <a:srgbClr val="E4EAE9"/>
                      </a:solidFill>
                      <a:prstDash val="solid"/>
                    </a:lnR>
                    <a:lnT w="5715">
                      <a:solidFill>
                        <a:srgbClr val="E4EAE9"/>
                      </a:solidFill>
                      <a:prstDash val="solid"/>
                    </a:lnT>
                    <a:lnB w="5715">
                      <a:solidFill>
                        <a:srgbClr val="E4EAE9"/>
                      </a:solidFill>
                      <a:prstDash val="solid"/>
                    </a:lnB>
                    <a:solidFill>
                      <a:srgbClr val="176B68"/>
                    </a:solidFill>
                  </a:tcPr>
                </a:tc>
                <a:tc>
                  <a:txBody>
                    <a:bodyPr/>
                    <a:lstStyle/>
                    <a:p>
                      <a:r>
                        <a:rPr sz="1725" b="1">
                          <a:solidFill>
                            <a:srgbClr val="FFFFFF"/>
                          </a:solidFill>
                          <a:latin typeface="Arial"/>
                          <a:ea typeface="Arial"/>
                          <a:cs typeface="Arial"/>
                        </a:rPr>
                        <a:t>Test R²</a:t>
                      </a:r>
                    </a:p>
                  </a:txBody>
                  <a:tcPr marL="91440" marR="91440" marT="45720" marB="45720">
                    <a:lnR w="5715">
                      <a:solidFill>
                        <a:srgbClr val="E4EAE9"/>
                      </a:solidFill>
                      <a:prstDash val="solid"/>
                    </a:lnR>
                    <a:lnT w="5715">
                      <a:solidFill>
                        <a:srgbClr val="E4EAE9"/>
                      </a:solidFill>
                      <a:prstDash val="solid"/>
                    </a:lnT>
                    <a:lnB w="5715">
                      <a:solidFill>
                        <a:srgbClr val="E4EAE9"/>
                      </a:solidFill>
                      <a:prstDash val="solid"/>
                    </a:lnB>
                    <a:solidFill>
                      <a:srgbClr val="176B68"/>
                    </a:solidFill>
                  </a:tcPr>
                </a:tc>
              </a:tr>
              <a:tr h="464344">
                <a:tc>
                  <a:txBody>
                    <a:bodyPr/>
                    <a:lstStyle/>
                    <a:p>
                      <a:r>
                        <a:rPr sz="1725" b="0">
                          <a:solidFill>
                            <a:srgbClr val="17343C"/>
                          </a:solidFill>
                          <a:latin typeface="Arial"/>
                          <a:ea typeface="Arial"/>
                          <a:cs typeface="Arial"/>
                        </a:rPr>
                        <a:t>Median baseline</a:t>
                      </a:r>
                    </a:p>
                  </a:txBody>
                  <a:tcPr marL="91440" marR="91440" marT="45720" marB="45720">
                    <a:lnL w="5715">
                      <a:solidFill>
                        <a:srgbClr val="E4EAE9"/>
                      </a:solidFill>
                      <a:prstDash val="solid"/>
                    </a:lnL>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11.07 ± 0.72</a:t>
                      </a:r>
                    </a:p>
                  </a:txBody>
                  <a:tcPr marL="91440" marR="91440" marT="45720" marB="45720">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13.01</a:t>
                      </a:r>
                    </a:p>
                  </a:txBody>
                  <a:tcPr marL="91440" marR="91440" marT="45720" marB="45720">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-0.041</a:t>
                      </a:r>
                    </a:p>
                  </a:txBody>
                  <a:tcPr marL="91440" marR="91440" marT="45720" marB="45720">
                    <a:lnR w="5715">
                      <a:solidFill>
                        <a:srgbClr val="E4EAE9"/>
                      </a:solidFill>
                      <a:prstDash val="solid"/>
                    </a:lnR>
                    <a:lnB w="5715">
                      <a:solidFill>
                        <a:srgbClr val="E4EAE9"/>
                      </a:solidFill>
                      <a:prstDash val="solid"/>
                    </a:lnB>
                    <a:solidFill>
                      <a:srgbClr val="FFFFFF"/>
                    </a:solidFill>
                  </a:tcPr>
                </a:tc>
              </a:tr>
              <a:tr h="464344">
                <a:tc>
                  <a:txBody>
                    <a:bodyPr/>
                    <a:lstStyle/>
                    <a:p>
                      <a:r>
                        <a:rPr sz="1725" b="0">
                          <a:solidFill>
                            <a:srgbClr val="17343C"/>
                          </a:solidFill>
                          <a:latin typeface="Arial"/>
                          <a:ea typeface="Arial"/>
                          <a:cs typeface="Arial"/>
                        </a:rPr>
                        <a:t>Ridge original</a:t>
                      </a:r>
                    </a:p>
                  </a:txBody>
                  <a:tcPr marL="91440" marR="91440" marT="45720" marB="45720">
                    <a:lnL w="5715">
                      <a:solidFill>
                        <a:srgbClr val="E4EAE9"/>
                      </a:solidFill>
                      <a:prstDash val="solid"/>
                    </a:lnL>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10.07 ± 0.68</a:t>
                      </a:r>
                    </a:p>
                  </a:txBody>
                  <a:tcPr marL="91440" marR="91440" marT="45720" marB="45720">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11.81</a:t>
                      </a:r>
                    </a:p>
                  </a:txBody>
                  <a:tcPr marL="91440" marR="91440" marT="45720" marB="45720">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-0.012</a:t>
                      </a:r>
                    </a:p>
                  </a:txBody>
                  <a:tcPr marL="91440" marR="91440" marT="45720" marB="45720">
                    <a:lnR w="5715">
                      <a:solidFill>
                        <a:srgbClr val="E4EAE9"/>
                      </a:solidFill>
                      <a:prstDash val="solid"/>
                    </a:lnR>
                    <a:lnB w="5715">
                      <a:solidFill>
                        <a:srgbClr val="E4EAE9"/>
                      </a:solidFill>
                      <a:prstDash val="solid"/>
                    </a:lnB>
                    <a:solidFill>
                      <a:srgbClr val="FFFFFF"/>
                    </a:solidFill>
                  </a:tcPr>
                </a:tc>
              </a:tr>
              <a:tr h="464344">
                <a:tc>
                  <a:txBody>
                    <a:bodyPr/>
                    <a:lstStyle/>
                    <a:p>
                      <a:r>
                        <a:rPr sz="1725" b="0">
                          <a:solidFill>
                            <a:srgbClr val="17343C"/>
                          </a:solidFill>
                          <a:latin typeface="Arial"/>
                          <a:ea typeface="Arial"/>
                          <a:cs typeface="Arial"/>
                        </a:rPr>
                        <a:t>Ridge expanded</a:t>
                      </a:r>
                    </a:p>
                  </a:txBody>
                  <a:tcPr marL="91440" marR="91440" marT="45720" marB="45720">
                    <a:lnL w="5715">
                      <a:solidFill>
                        <a:srgbClr val="E4EAE9"/>
                      </a:solidFill>
                      <a:prstDash val="solid"/>
                    </a:lnL>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9.16 ± 0.68</a:t>
                      </a:r>
                    </a:p>
                  </a:txBody>
                  <a:tcPr marL="91440" marR="91440" marT="45720" marB="45720">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10.71</a:t>
                      </a:r>
                    </a:p>
                  </a:txBody>
                  <a:tcPr marL="91440" marR="91440" marT="45720" marB="45720">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0.024</a:t>
                      </a:r>
                    </a:p>
                  </a:txBody>
                  <a:tcPr marL="91440" marR="91440" marT="45720" marB="45720">
                    <a:lnR w="5715">
                      <a:solidFill>
                        <a:srgbClr val="E4EAE9"/>
                      </a:solidFill>
                      <a:prstDash val="solid"/>
                    </a:lnR>
                    <a:lnB w="5715">
                      <a:solidFill>
                        <a:srgbClr val="E4EAE9"/>
                      </a:solidFill>
                      <a:prstDash val="solid"/>
                    </a:lnB>
                    <a:solidFill>
                      <a:srgbClr val="FFFFFF"/>
                    </a:solidFill>
                  </a:tcPr>
                </a:tc>
              </a:tr>
              <a:tr h="464344">
                <a:tc>
                  <a:txBody>
                    <a:bodyPr/>
                    <a:lstStyle/>
                    <a:p>
                      <a:r>
                        <a:rPr sz="1725" b="0">
                          <a:solidFill>
                            <a:srgbClr val="17343C"/>
                          </a:solidFill>
                          <a:latin typeface="Arial"/>
                          <a:ea typeface="Arial"/>
                          <a:cs typeface="Arial"/>
                        </a:rPr>
                        <a:t>ExtraTrees expanded</a:t>
                      </a:r>
                    </a:p>
                  </a:txBody>
                  <a:tcPr marL="91440" marR="91440" marT="45720" marB="45720">
                    <a:lnL w="5715">
                      <a:solidFill>
                        <a:srgbClr val="E4EAE9"/>
                      </a:solidFill>
                      <a:prstDash val="solid"/>
                    </a:lnL>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8.77 ± 0.74</a:t>
                      </a:r>
                    </a:p>
                  </a:txBody>
                  <a:tcPr marL="91440" marR="91440" marT="45720" marB="45720">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10.49</a:t>
                      </a:r>
                    </a:p>
                  </a:txBody>
                  <a:tcPr marL="91440" marR="91440" marT="45720" marB="45720">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0.022</a:t>
                      </a:r>
                    </a:p>
                  </a:txBody>
                  <a:tcPr marL="91440" marR="91440" marT="45720" marB="45720">
                    <a:lnR w="5715">
                      <a:solidFill>
                        <a:srgbClr val="E4EAE9"/>
                      </a:solidFill>
                      <a:prstDash val="solid"/>
                    </a:lnR>
                    <a:lnB w="5715">
                      <a:solidFill>
                        <a:srgbClr val="E4EAE9"/>
                      </a:solidFill>
                      <a:prstDash val="solid"/>
                    </a:lnB>
                    <a:solidFill>
                      <a:srgbClr val="FFFFFF"/>
                    </a:solidFill>
                  </a:tcPr>
                </a:tc>
              </a:tr>
              <a:tr h="464344">
                <a:tc>
                  <a:txBody>
                    <a:bodyPr/>
                    <a:lstStyle/>
                    <a:p>
                      <a:r>
                        <a:rPr sz="1725" b="0">
                          <a:solidFill>
                            <a:srgbClr val="17343C"/>
                          </a:solidFill>
                          <a:latin typeface="Arial"/>
                          <a:ea typeface="Arial"/>
                          <a:cs typeface="Arial"/>
                        </a:rPr>
                        <a:t>Random forest</a:t>
                      </a:r>
                    </a:p>
                  </a:txBody>
                  <a:tcPr marL="91440" marR="91440" marT="45720" marB="45720">
                    <a:lnL w="5715">
                      <a:solidFill>
                        <a:srgbClr val="E4EAE9"/>
                      </a:solidFill>
                      <a:prstDash val="solid"/>
                    </a:lnL>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8.67 ± 0.66</a:t>
                      </a:r>
                    </a:p>
                  </a:txBody>
                  <a:tcPr marL="91440" marR="91440" marT="45720" marB="45720">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10.33</a:t>
                      </a:r>
                    </a:p>
                  </a:txBody>
                  <a:tcPr marL="91440" marR="91440" marT="45720" marB="45720">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0.024</a:t>
                      </a:r>
                    </a:p>
                  </a:txBody>
                  <a:tcPr marL="91440" marR="91440" marT="45720" marB="45720">
                    <a:lnR w="5715">
                      <a:solidFill>
                        <a:srgbClr val="E4EAE9"/>
                      </a:solidFill>
                      <a:prstDash val="solid"/>
                    </a:lnR>
                    <a:lnB w="5715">
                      <a:solidFill>
                        <a:srgbClr val="E4EAE9"/>
                      </a:solidFill>
                      <a:prstDash val="solid"/>
                    </a:lnB>
                    <a:solidFill>
                      <a:srgbClr val="FFFFFF"/>
                    </a:solidFill>
                  </a:tcPr>
                </a:tc>
              </a:tr>
              <a:tr h="464344">
                <a:tc>
                  <a:txBody>
                    <a:bodyPr/>
                    <a:lstStyle/>
                    <a:p>
                      <a:r>
                        <a:rPr sz="1725" b="0">
                          <a:solidFill>
                            <a:srgbClr val="17343C"/>
                          </a:solidFill>
                          <a:latin typeface="Arial"/>
                          <a:ea typeface="Arial"/>
                          <a:cs typeface="Arial"/>
                        </a:rPr>
                        <a:t>Gradient boosting</a:t>
                      </a:r>
                    </a:p>
                  </a:txBody>
                  <a:tcPr marL="91440" marR="91440" marT="45720" marB="45720">
                    <a:lnL w="5715">
                      <a:solidFill>
                        <a:srgbClr val="E4EAE9"/>
                      </a:solidFill>
                      <a:prstDash val="solid"/>
                    </a:lnL>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8.64 ± 0.60</a:t>
                      </a:r>
                    </a:p>
                  </a:txBody>
                  <a:tcPr marL="91440" marR="91440" marT="45720" marB="45720">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10.26</a:t>
                      </a:r>
                    </a:p>
                  </a:txBody>
                  <a:tcPr marL="91440" marR="91440" marT="45720" marB="45720">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0.023</a:t>
                      </a:r>
                    </a:p>
                  </a:txBody>
                  <a:tcPr marL="91440" marR="91440" marT="45720" marB="45720">
                    <a:lnR w="5715">
                      <a:solidFill>
                        <a:srgbClr val="E4EAE9"/>
                      </a:solidFill>
                      <a:prstDash val="solid"/>
                    </a:lnR>
                    <a:lnB w="5715">
                      <a:solidFill>
                        <a:srgbClr val="E4EAE9"/>
                      </a:solidFill>
                      <a:prstDash val="solid"/>
                    </a:lnB>
                    <a:solidFill>
                      <a:srgbClr val="FFFFFF"/>
                    </a:solidFill>
                  </a:tcPr>
                </a:tc>
              </a:tr>
              <a:tr h="464344">
                <a:tc>
                  <a:txBody>
                    <a:bodyPr/>
                    <a:lstStyle/>
                    <a:p>
                      <a:r>
                        <a:rPr sz="1725" b="0">
                          <a:solidFill>
                            <a:srgbClr val="17343C"/>
                          </a:solidFill>
                          <a:latin typeface="Arial"/>
                          <a:ea typeface="Arial"/>
                          <a:cs typeface="Arial"/>
                        </a:rPr>
                        <a:t>Neural network</a:t>
                      </a:r>
                    </a:p>
                  </a:txBody>
                  <a:tcPr marL="91440" marR="91440" marT="45720" marB="45720">
                    <a:lnL w="5715">
                      <a:solidFill>
                        <a:srgbClr val="E4EAE9"/>
                      </a:solidFill>
                      <a:prstDash val="solid"/>
                    </a:lnL>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9.02 ± 0.64</a:t>
                      </a:r>
                    </a:p>
                  </a:txBody>
                  <a:tcPr marL="91440" marR="91440" marT="45720" marB="45720">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10.41</a:t>
                      </a:r>
                    </a:p>
                  </a:txBody>
                  <a:tcPr marL="91440" marR="91440" marT="45720" marB="45720">
                    <a:lnR w="5715">
                      <a:solidFill>
                        <a:srgbClr val="E4EAE9"/>
                      </a:solidFill>
                      <a:prstDash val="solid"/>
                    </a:lnR>
                    <a:lnB w="5715">
                      <a:solidFill>
                        <a:srgbClr val="E4EAE9"/>
                      </a:solidFill>
                      <a:prstDash val="solid"/>
                    </a:lnB>
                    <a:solidFill>
                      <a:srgbClr val="FFFFFF"/>
                    </a:solidFill>
                  </a:tcPr>
                </a:tc>
                <a:tc>
                  <a:txBody>
                    <a:bodyPr/>
                    <a:lstStyle/>
                    <a:p>
                      <a:r>
                        <a:rPr sz="1725" b="0">
                          <a:solidFill>
                            <a:srgbClr val="17343C"/>
                          </a:solidFill>
                          <a:latin typeface="Arial"/>
                          <a:ea typeface="Arial"/>
                          <a:cs typeface="Arial"/>
                        </a:rPr>
                        <a:t>0.036</a:t>
                      </a:r>
                    </a:p>
                  </a:txBody>
                  <a:tcPr marL="91440" marR="91440" marT="45720" marB="45720">
                    <a:lnR w="5715">
                      <a:solidFill>
                        <a:srgbClr val="E4EAE9"/>
                      </a:solidFill>
                      <a:prstDash val="solid"/>
                    </a:lnR>
                    <a:lnB w="5715">
                      <a:solidFill>
                        <a:srgbClr val="E4EAE9"/>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85F84AE-DA89-49F8-A0C3-069AA2A42762}"/>
              </a:ext>
            </a:extLst>
          </p:cNvPr>
          <p:cNvSpPr>
            <a:spLocks xmlns:a="http://schemas.openxmlformats.org/drawingml/2006/main" noGrp="1"/>
          </p:cNvSpPr>
          <p:nvPr/>
        </p:nvSpPr>
        <p:spPr>
          <a:xfrm xmlns:a="http://schemas.openxmlformats.org/drawingml/2006/main">
            <a:off x="714375" y="5476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6B68"/>
                </a:solidFill>
                <a:latin typeface="Arial"/>
                <a:ea typeface="Arial"/>
                <a:cs typeface="Arial"/>
              </a:defRPr>
            </a:defPPr>
            <a:lvl1pPr>
              <a:buNone/>
              <a:defRPr sz="2175" b="1">
                <a:solidFill>
                  <a:srgbClr val="176B68"/>
                </a:solidFill>
                <a:latin typeface="Arial"/>
                <a:ea typeface="Arial"/>
                <a:cs typeface="Arial"/>
              </a:defRPr>
            </a:lvl1pPr>
            <a:lvl2pPr>
              <a:buNone/>
              <a:defRPr sz="2175" b="1">
                <a:solidFill>
                  <a:srgbClr val="176B68"/>
                </a:solidFill>
                <a:latin typeface="Arial"/>
                <a:ea typeface="Arial"/>
                <a:cs typeface="Arial"/>
              </a:defRPr>
            </a:lvl2pPr>
            <a:lvl3pPr>
              <a:buNone/>
              <a:defRPr sz="2175" b="1">
                <a:solidFill>
                  <a:srgbClr val="176B68"/>
                </a:solidFill>
                <a:latin typeface="Arial"/>
                <a:ea typeface="Arial"/>
                <a:cs typeface="Arial"/>
              </a:defRPr>
            </a:lvl3pPr>
            <a:lvl4pPr>
              <a:buNone/>
              <a:defRPr sz="2175" b="1">
                <a:solidFill>
                  <a:srgbClr val="176B68"/>
                </a:solidFill>
                <a:latin typeface="Arial"/>
                <a:ea typeface="Arial"/>
                <a:cs typeface="Arial"/>
              </a:defRPr>
            </a:lvl4pPr>
            <a:lvl5pPr>
              <a:buNone/>
              <a:defRPr sz="2175" b="1">
                <a:solidFill>
                  <a:srgbClr val="176B68"/>
                </a:solidFill>
                <a:latin typeface="Arial"/>
                <a:ea typeface="Arial"/>
                <a:cs typeface="Arial"/>
              </a:defRPr>
            </a:lvl5pPr>
            <a:lvl6pPr>
              <a:buNone/>
              <a:defRPr sz="2175" b="1">
                <a:solidFill>
                  <a:srgbClr val="176B68"/>
                </a:solidFill>
                <a:latin typeface="Arial"/>
                <a:ea typeface="Arial"/>
                <a:cs typeface="Arial"/>
              </a:defRPr>
            </a:lvl6pPr>
            <a:lvl7pPr>
              <a:buNone/>
              <a:defRPr sz="2175" b="1">
                <a:solidFill>
                  <a:srgbClr val="176B68"/>
                </a:solidFill>
                <a:latin typeface="Arial"/>
                <a:ea typeface="Arial"/>
                <a:cs typeface="Arial"/>
              </a:defRPr>
            </a:lvl7pPr>
            <a:lvl8pPr>
              <a:buNone/>
              <a:defRPr sz="2175" b="1">
                <a:solidFill>
                  <a:srgbClr val="176B68"/>
                </a:solidFill>
                <a:latin typeface="Arial"/>
                <a:ea typeface="Arial"/>
                <a:cs typeface="Arial"/>
              </a:defRPr>
            </a:lvl8pPr>
            <a:lvl9pPr>
              <a:buNone/>
              <a:defRPr sz="2175" b="1">
                <a:solidFill>
                  <a:srgbClr val="176B68"/>
                </a:solidFill>
                <a:latin typeface="Arial"/>
                <a:ea typeface="Arial"/>
                <a:cs typeface="Arial"/>
              </a:defRPr>
            </a:lvl9pPr>
          </a:lstStyle>
          <a:p xmlns:a="http://schemas.openxmlformats.org/drawingml/2006/main">
            <a:pPr>
              <a:buNone/>
              <a:defRPr sz="2175" b="1">
                <a:solidFill>
                  <a:srgbClr val="176B68"/>
                </a:solidFill>
                <a:latin typeface="Arial"/>
                <a:ea typeface="Arial"/>
                <a:cs typeface="Arial"/>
              </a:defRPr>
            </a:pPr>
            <a:r>
              <a:rPr sz="2175" b="1">
                <a:solidFill>
                  <a:srgbClr val="176B68"/>
                </a:solidFill>
                <a:latin typeface="Arial"/>
                <a:ea typeface="Arial"/>
                <a:cs typeface="Arial"/>
              </a:rPr>
              <a:t>Selected by CV: Tuned gradient boosting</a:t>
            </a:r>
          </a:p>
        </p:txBody>
      </p:sp>
      <p:sp>
        <p:nvSpPr>
          <p:cNvPr id="5" name="">
            <a:extLst xmlns:a="http://schemas.openxmlformats.org/drawingml/2006/main">
              <a:ext uri="{FF2B5EF4-FFF2-40B4-BE49-F238E27FC236}">
                <a16:creationId xmlns:a16="http://schemas.microsoft.com/office/drawing/2014/main" id="{2BA671AB-FFF1-4429-AF44-2EEABE8D01BB}"/>
              </a:ext>
            </a:extLst>
          </p:cNvPr>
          <p:cNvSpPr>
            <a:spLocks xmlns:a="http://schemas.openxmlformats.org/drawingml/2006/main" noGrp="1"/>
          </p:cNvSpPr>
          <p:nvPr/>
        </p:nvSpPr>
        <p:spPr>
          <a:xfrm xmlns:a="http://schemas.openxmlformats.org/drawingml/2006/main">
            <a:off x="714375" y="5953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778792"/>
                </a:solidFill>
                <a:latin typeface="Arial"/>
                <a:ea typeface="Arial"/>
                <a:cs typeface="Arial"/>
              </a:defRPr>
            </a:defPPr>
            <a:lvl1pPr>
              <a:buNone/>
              <a:defRPr sz="1725" b="0">
                <a:solidFill>
                  <a:srgbClr val="778792"/>
                </a:solidFill>
                <a:latin typeface="Arial"/>
                <a:ea typeface="Arial"/>
                <a:cs typeface="Arial"/>
              </a:defRPr>
            </a:lvl1pPr>
            <a:lvl2pPr>
              <a:buNone/>
              <a:defRPr sz="1725" b="0">
                <a:solidFill>
                  <a:srgbClr val="778792"/>
                </a:solidFill>
                <a:latin typeface="Arial"/>
                <a:ea typeface="Arial"/>
                <a:cs typeface="Arial"/>
              </a:defRPr>
            </a:lvl2pPr>
            <a:lvl3pPr>
              <a:buNone/>
              <a:defRPr sz="1725" b="0">
                <a:solidFill>
                  <a:srgbClr val="778792"/>
                </a:solidFill>
                <a:latin typeface="Arial"/>
                <a:ea typeface="Arial"/>
                <a:cs typeface="Arial"/>
              </a:defRPr>
            </a:lvl3pPr>
            <a:lvl4pPr>
              <a:buNone/>
              <a:defRPr sz="1725" b="0">
                <a:solidFill>
                  <a:srgbClr val="778792"/>
                </a:solidFill>
                <a:latin typeface="Arial"/>
                <a:ea typeface="Arial"/>
                <a:cs typeface="Arial"/>
              </a:defRPr>
            </a:lvl4pPr>
            <a:lvl5pPr>
              <a:buNone/>
              <a:defRPr sz="1725" b="0">
                <a:solidFill>
                  <a:srgbClr val="778792"/>
                </a:solidFill>
                <a:latin typeface="Arial"/>
                <a:ea typeface="Arial"/>
                <a:cs typeface="Arial"/>
              </a:defRPr>
            </a:lvl5pPr>
            <a:lvl6pPr>
              <a:buNone/>
              <a:defRPr sz="1725" b="0">
                <a:solidFill>
                  <a:srgbClr val="778792"/>
                </a:solidFill>
                <a:latin typeface="Arial"/>
                <a:ea typeface="Arial"/>
                <a:cs typeface="Arial"/>
              </a:defRPr>
            </a:lvl6pPr>
            <a:lvl7pPr>
              <a:buNone/>
              <a:defRPr sz="1725" b="0">
                <a:solidFill>
                  <a:srgbClr val="778792"/>
                </a:solidFill>
                <a:latin typeface="Arial"/>
                <a:ea typeface="Arial"/>
                <a:cs typeface="Arial"/>
              </a:defRPr>
            </a:lvl7pPr>
            <a:lvl8pPr>
              <a:buNone/>
              <a:defRPr sz="1725" b="0">
                <a:solidFill>
                  <a:srgbClr val="778792"/>
                </a:solidFill>
                <a:latin typeface="Arial"/>
                <a:ea typeface="Arial"/>
                <a:cs typeface="Arial"/>
              </a:defRPr>
            </a:lvl8pPr>
            <a:lvl9pPr>
              <a:buNone/>
              <a:defRPr sz="1725" b="0">
                <a:solidFill>
                  <a:srgbClr val="778792"/>
                </a:solidFill>
                <a:latin typeface="Arial"/>
                <a:ea typeface="Arial"/>
                <a:cs typeface="Arial"/>
              </a:defRPr>
            </a:lvl9pPr>
          </a:lstStyle>
          <a:p xmlns:a="http://schemas.openxmlformats.org/drawingml/2006/main">
            <a:pPr>
              <a:buNone/>
              <a:defRPr sz="1725" b="0">
                <a:solidFill>
                  <a:srgbClr val="778792"/>
                </a:solidFill>
                <a:latin typeface="Arial"/>
                <a:ea typeface="Arial"/>
                <a:cs typeface="Arial"/>
              </a:defRPr>
            </a:pPr>
            <a:r>
              <a:rPr sz="1725" b="0">
                <a:solidFill>
                  <a:srgbClr val="778792"/>
                </a:solidFill>
                <a:latin typeface="Arial"/>
                <a:ea typeface="Arial"/>
                <a:cs typeface="Arial"/>
              </a:rPr>
              <a:t>Complete 13-model results are in the report and notebook. Errors are in hours.</a:t>
            </a:r>
          </a:p>
        </p:txBody>
      </p:sp>
    </p:spTree>
    <p:extLst>
      <p:ext uri="{BB962C8B-B14F-4D97-AF65-F5344CB8AC3E}">
        <p14:creationId xmlns:p14="http://schemas.microsoft.com/office/powerpoint/2010/main" val="18573544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D00514-5A3F-4348-B90B-9873CE6D8AC9}"/>
              </a:ext>
            </a:extLst>
          </p:cNvPr>
          <p:cNvSpPr>
            <a:spLocks xmlns:a="http://schemas.openxmlformats.org/drawingml/2006/main" noGrp="1"/>
          </p:cNvSpPr>
          <p:nvPr/>
        </p:nvSpPr>
        <p:spPr>
          <a:xfrm xmlns:a="http://schemas.openxmlformats.org/drawingml/2006/main">
            <a:off x="590550" y="400050"/>
            <a:ext cx="11010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3C"/>
                </a:solidFill>
                <a:latin typeface="Arial"/>
                <a:ea typeface="Arial"/>
                <a:cs typeface="Arial"/>
              </a:defRPr>
            </a:defPPr>
            <a:lvl1pPr>
              <a:buNone/>
              <a:defRPr sz="3300" b="1">
                <a:solidFill>
                  <a:srgbClr val="17343C"/>
                </a:solidFill>
                <a:latin typeface="Arial"/>
                <a:ea typeface="Arial"/>
                <a:cs typeface="Arial"/>
              </a:defRPr>
            </a:lvl1pPr>
            <a:lvl2pPr>
              <a:buNone/>
              <a:defRPr sz="3300" b="1">
                <a:solidFill>
                  <a:srgbClr val="17343C"/>
                </a:solidFill>
                <a:latin typeface="Arial"/>
                <a:ea typeface="Arial"/>
                <a:cs typeface="Arial"/>
              </a:defRPr>
            </a:lvl2pPr>
            <a:lvl3pPr>
              <a:buNone/>
              <a:defRPr sz="3300" b="1">
                <a:solidFill>
                  <a:srgbClr val="17343C"/>
                </a:solidFill>
                <a:latin typeface="Arial"/>
                <a:ea typeface="Arial"/>
                <a:cs typeface="Arial"/>
              </a:defRPr>
            </a:lvl3pPr>
            <a:lvl4pPr>
              <a:buNone/>
              <a:defRPr sz="3300" b="1">
                <a:solidFill>
                  <a:srgbClr val="17343C"/>
                </a:solidFill>
                <a:latin typeface="Arial"/>
                <a:ea typeface="Arial"/>
                <a:cs typeface="Arial"/>
              </a:defRPr>
            </a:lvl4pPr>
            <a:lvl5pPr>
              <a:buNone/>
              <a:defRPr sz="3300" b="1">
                <a:solidFill>
                  <a:srgbClr val="17343C"/>
                </a:solidFill>
                <a:latin typeface="Arial"/>
                <a:ea typeface="Arial"/>
                <a:cs typeface="Arial"/>
              </a:defRPr>
            </a:lvl5pPr>
            <a:lvl6pPr>
              <a:buNone/>
              <a:defRPr sz="3300" b="1">
                <a:solidFill>
                  <a:srgbClr val="17343C"/>
                </a:solidFill>
                <a:latin typeface="Arial"/>
                <a:ea typeface="Arial"/>
                <a:cs typeface="Arial"/>
              </a:defRPr>
            </a:lvl6pPr>
            <a:lvl7pPr>
              <a:buNone/>
              <a:defRPr sz="3300" b="1">
                <a:solidFill>
                  <a:srgbClr val="17343C"/>
                </a:solidFill>
                <a:latin typeface="Arial"/>
                <a:ea typeface="Arial"/>
                <a:cs typeface="Arial"/>
              </a:defRPr>
            </a:lvl7pPr>
            <a:lvl8pPr>
              <a:buNone/>
              <a:defRPr sz="3300" b="1">
                <a:solidFill>
                  <a:srgbClr val="17343C"/>
                </a:solidFill>
                <a:latin typeface="Arial"/>
                <a:ea typeface="Arial"/>
                <a:cs typeface="Arial"/>
              </a:defRPr>
            </a:lvl8pPr>
            <a:lvl9pPr>
              <a:buNone/>
              <a:defRPr sz="3300" b="1">
                <a:solidFill>
                  <a:srgbClr val="17343C"/>
                </a:solidFill>
                <a:latin typeface="Arial"/>
                <a:ea typeface="Arial"/>
                <a:cs typeface="Arial"/>
              </a:defRPr>
            </a:lvl9pPr>
          </a:lstStyle>
          <a:p xmlns:a="http://schemas.openxmlformats.org/drawingml/2006/main">
            <a:pPr>
              <a:buNone/>
              <a:defRPr sz="3300" b="1">
                <a:solidFill>
                  <a:srgbClr val="17343C"/>
                </a:solidFill>
                <a:latin typeface="Arial"/>
                <a:ea typeface="Arial"/>
                <a:cs typeface="Arial"/>
              </a:defRPr>
            </a:pPr>
            <a:r>
              <a:rPr sz="3300" b="1">
                <a:solidFill>
                  <a:srgbClr val="17343C"/>
                </a:solidFill>
                <a:latin typeface="Arial"/>
                <a:ea typeface="Arial"/>
                <a:cs typeface="Arial"/>
              </a:rPr>
              <a:t>Performance and remaining errors</a:t>
            </a:r>
          </a:p>
        </p:txBody>
      </p:sp>
      <p:sp>
        <p:nvSpPr>
          <p:cNvPr id="2" name="">
            <a:extLst xmlns:a="http://schemas.openxmlformats.org/drawingml/2006/main">
              <a:ext uri="{FF2B5EF4-FFF2-40B4-BE49-F238E27FC236}">
                <a16:creationId xmlns:a16="http://schemas.microsoft.com/office/drawing/2014/main" id="{4A6BD5D5-30AC-45CB-9257-BE2C9D3322D8}"/>
              </a:ext>
            </a:extLst>
          </p:cNvPr>
          <p:cNvSpPr>
            <a:spLocks xmlns:a="http://schemas.openxmlformats.org/drawingml/2006/main" noGrp="1"/>
          </p:cNvSpPr>
          <p:nvPr/>
        </p:nvSpPr>
        <p:spPr>
          <a:xfrm xmlns:a="http://schemas.openxmlformats.org/drawingml/2006/main">
            <a:off x="10763250" y="638175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78792"/>
                </a:solidFill>
                <a:latin typeface="Arial"/>
                <a:ea typeface="Arial"/>
                <a:cs typeface="Arial"/>
              </a:defRPr>
            </a:defPPr>
            <a:lvl1pPr>
              <a:buNone/>
              <a:defRPr sz="1350" b="0">
                <a:solidFill>
                  <a:srgbClr val="778792"/>
                </a:solidFill>
                <a:latin typeface="Arial"/>
                <a:ea typeface="Arial"/>
                <a:cs typeface="Arial"/>
              </a:defRPr>
            </a:lvl1pPr>
            <a:lvl2pPr>
              <a:buNone/>
              <a:defRPr sz="1350" b="0">
                <a:solidFill>
                  <a:srgbClr val="778792"/>
                </a:solidFill>
                <a:latin typeface="Arial"/>
                <a:ea typeface="Arial"/>
                <a:cs typeface="Arial"/>
              </a:defRPr>
            </a:lvl2pPr>
            <a:lvl3pPr>
              <a:buNone/>
              <a:defRPr sz="1350" b="0">
                <a:solidFill>
                  <a:srgbClr val="778792"/>
                </a:solidFill>
                <a:latin typeface="Arial"/>
                <a:ea typeface="Arial"/>
                <a:cs typeface="Arial"/>
              </a:defRPr>
            </a:lvl3pPr>
            <a:lvl4pPr>
              <a:buNone/>
              <a:defRPr sz="1350" b="0">
                <a:solidFill>
                  <a:srgbClr val="778792"/>
                </a:solidFill>
                <a:latin typeface="Arial"/>
                <a:ea typeface="Arial"/>
                <a:cs typeface="Arial"/>
              </a:defRPr>
            </a:lvl4pPr>
            <a:lvl5pPr>
              <a:buNone/>
              <a:defRPr sz="1350" b="0">
                <a:solidFill>
                  <a:srgbClr val="778792"/>
                </a:solidFill>
                <a:latin typeface="Arial"/>
                <a:ea typeface="Arial"/>
                <a:cs typeface="Arial"/>
              </a:defRPr>
            </a:lvl5pPr>
            <a:lvl6pPr>
              <a:buNone/>
              <a:defRPr sz="1350" b="0">
                <a:solidFill>
                  <a:srgbClr val="778792"/>
                </a:solidFill>
                <a:latin typeface="Arial"/>
                <a:ea typeface="Arial"/>
                <a:cs typeface="Arial"/>
              </a:defRPr>
            </a:lvl6pPr>
            <a:lvl7pPr>
              <a:buNone/>
              <a:defRPr sz="1350" b="0">
                <a:solidFill>
                  <a:srgbClr val="778792"/>
                </a:solidFill>
                <a:latin typeface="Arial"/>
                <a:ea typeface="Arial"/>
                <a:cs typeface="Arial"/>
              </a:defRPr>
            </a:lvl7pPr>
            <a:lvl8pPr>
              <a:buNone/>
              <a:defRPr sz="1350" b="0">
                <a:solidFill>
                  <a:srgbClr val="778792"/>
                </a:solidFill>
                <a:latin typeface="Arial"/>
                <a:ea typeface="Arial"/>
                <a:cs typeface="Arial"/>
              </a:defRPr>
            </a:lvl8pPr>
            <a:lvl9pPr>
              <a:buNone/>
              <a:defRPr sz="1350" b="0">
                <a:solidFill>
                  <a:srgbClr val="778792"/>
                </a:solidFill>
                <a:latin typeface="Arial"/>
                <a:ea typeface="Arial"/>
                <a:cs typeface="Arial"/>
              </a:defRPr>
            </a:lvl9pPr>
          </a:lstStyle>
          <a:p xmlns:a="http://schemas.openxmlformats.org/drawingml/2006/main">
            <a:pPr>
              <a:buNone/>
              <a:defRPr sz="1350" b="0">
                <a:solidFill>
                  <a:srgbClr val="778792"/>
                </a:solidFill>
                <a:latin typeface="Arial"/>
                <a:ea typeface="Arial"/>
                <a:cs typeface="Arial"/>
              </a:defRPr>
            </a:pPr>
            <a:r>
              <a:rPr sz="1350" b="0">
                <a:solidFill>
                  <a:srgbClr val="778792"/>
                </a:solidFill>
                <a:latin typeface="Arial"/>
                <a:ea typeface="Arial"/>
                <a:cs typeface="Arial"/>
              </a:rPr>
              <a:t>06 / 09</a:t>
            </a:r>
          </a:p>
        </p:txBody>
      </p:sp>
      <p:sp>
        <p:nvSpPr>
          <p:cNvPr id="3" name="">
            <a:extLst xmlns:a="http://schemas.openxmlformats.org/drawingml/2006/main">
              <a:ext uri="{FF2B5EF4-FFF2-40B4-BE49-F238E27FC236}">
                <a16:creationId xmlns:a16="http://schemas.microsoft.com/office/drawing/2014/main" id="{4FC8F471-5739-4E3C-B2EF-289EC20DA231}"/>
              </a:ext>
            </a:extLst>
          </p:cNvPr>
          <p:cNvSpPr>
            <a:spLocks xmlns:a="http://schemas.openxmlformats.org/drawingml/2006/main" noGrp="1"/>
          </p:cNvSpPr>
          <p:nvPr/>
        </p:nvSpPr>
        <p:spPr>
          <a:xfrm xmlns:a="http://schemas.openxmlformats.org/drawingml/2006/main">
            <a:off x="714375" y="1428750"/>
            <a:ext cx="4476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176B68"/>
                </a:solidFill>
                <a:latin typeface="Arial"/>
                <a:ea typeface="Arial"/>
                <a:cs typeface="Arial"/>
              </a:defRPr>
            </a:defPPr>
            <a:lvl1pPr>
              <a:buNone/>
              <a:defRPr sz="5700" b="1">
                <a:solidFill>
                  <a:srgbClr val="176B68"/>
                </a:solidFill>
                <a:latin typeface="Arial"/>
                <a:ea typeface="Arial"/>
                <a:cs typeface="Arial"/>
              </a:defRPr>
            </a:lvl1pPr>
            <a:lvl2pPr>
              <a:buNone/>
              <a:defRPr sz="5700" b="1">
                <a:solidFill>
                  <a:srgbClr val="176B68"/>
                </a:solidFill>
                <a:latin typeface="Arial"/>
                <a:ea typeface="Arial"/>
                <a:cs typeface="Arial"/>
              </a:defRPr>
            </a:lvl2pPr>
            <a:lvl3pPr>
              <a:buNone/>
              <a:defRPr sz="5700" b="1">
                <a:solidFill>
                  <a:srgbClr val="176B68"/>
                </a:solidFill>
                <a:latin typeface="Arial"/>
                <a:ea typeface="Arial"/>
                <a:cs typeface="Arial"/>
              </a:defRPr>
            </a:lvl3pPr>
            <a:lvl4pPr>
              <a:buNone/>
              <a:defRPr sz="5700" b="1">
                <a:solidFill>
                  <a:srgbClr val="176B68"/>
                </a:solidFill>
                <a:latin typeface="Arial"/>
                <a:ea typeface="Arial"/>
                <a:cs typeface="Arial"/>
              </a:defRPr>
            </a:lvl4pPr>
            <a:lvl5pPr>
              <a:buNone/>
              <a:defRPr sz="5700" b="1">
                <a:solidFill>
                  <a:srgbClr val="176B68"/>
                </a:solidFill>
                <a:latin typeface="Arial"/>
                <a:ea typeface="Arial"/>
                <a:cs typeface="Arial"/>
              </a:defRPr>
            </a:lvl5pPr>
            <a:lvl6pPr>
              <a:buNone/>
              <a:defRPr sz="5700" b="1">
                <a:solidFill>
                  <a:srgbClr val="176B68"/>
                </a:solidFill>
                <a:latin typeface="Arial"/>
                <a:ea typeface="Arial"/>
                <a:cs typeface="Arial"/>
              </a:defRPr>
            </a:lvl6pPr>
            <a:lvl7pPr>
              <a:buNone/>
              <a:defRPr sz="5700" b="1">
                <a:solidFill>
                  <a:srgbClr val="176B68"/>
                </a:solidFill>
                <a:latin typeface="Arial"/>
                <a:ea typeface="Arial"/>
                <a:cs typeface="Arial"/>
              </a:defRPr>
            </a:lvl7pPr>
            <a:lvl8pPr>
              <a:buNone/>
              <a:defRPr sz="5700" b="1">
                <a:solidFill>
                  <a:srgbClr val="176B68"/>
                </a:solidFill>
                <a:latin typeface="Arial"/>
                <a:ea typeface="Arial"/>
                <a:cs typeface="Arial"/>
              </a:defRPr>
            </a:lvl8pPr>
            <a:lvl9pPr>
              <a:buNone/>
              <a:defRPr sz="5700" b="1">
                <a:solidFill>
                  <a:srgbClr val="176B68"/>
                </a:solidFill>
                <a:latin typeface="Arial"/>
                <a:ea typeface="Arial"/>
                <a:cs typeface="Arial"/>
              </a:defRPr>
            </a:lvl9pPr>
          </a:lstStyle>
          <a:p xmlns:a="http://schemas.openxmlformats.org/drawingml/2006/main">
            <a:pPr>
              <a:buNone/>
              <a:defRPr sz="5700" b="1">
                <a:solidFill>
                  <a:srgbClr val="176B68"/>
                </a:solidFill>
                <a:latin typeface="Arial"/>
                <a:ea typeface="Arial"/>
                <a:cs typeface="Arial"/>
              </a:defRPr>
            </a:pPr>
            <a:r>
              <a:rPr sz="5700" b="1">
                <a:solidFill>
                  <a:srgbClr val="176B68"/>
                </a:solidFill>
                <a:latin typeface="Arial"/>
                <a:ea typeface="Arial"/>
                <a:cs typeface="Arial"/>
              </a:rPr>
              <a:t>10.26 h</a:t>
            </a:r>
          </a:p>
        </p:txBody>
      </p:sp>
      <p:sp>
        <p:nvSpPr>
          <p:cNvPr id="4" name="">
            <a:extLst xmlns:a="http://schemas.openxmlformats.org/drawingml/2006/main">
              <a:ext uri="{FF2B5EF4-FFF2-40B4-BE49-F238E27FC236}">
                <a16:creationId xmlns:a16="http://schemas.microsoft.com/office/drawing/2014/main" id="{00778BD3-B37C-4B30-87B5-DD96B0DDF913}"/>
              </a:ext>
            </a:extLst>
          </p:cNvPr>
          <p:cNvSpPr>
            <a:spLocks xmlns:a="http://schemas.openxmlformats.org/drawingml/2006/main" noGrp="1"/>
          </p:cNvSpPr>
          <p:nvPr/>
        </p:nvSpPr>
        <p:spPr>
          <a:xfrm xmlns:a="http://schemas.openxmlformats.org/drawingml/2006/main">
            <a:off x="762000" y="2505075"/>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3C"/>
                </a:solidFill>
                <a:latin typeface="Arial"/>
                <a:ea typeface="Arial"/>
                <a:cs typeface="Arial"/>
              </a:defRPr>
            </a:defPPr>
            <a:lvl1pPr>
              <a:buNone/>
              <a:defRPr sz="2100" b="0">
                <a:solidFill>
                  <a:srgbClr val="17343C"/>
                </a:solidFill>
                <a:latin typeface="Arial"/>
                <a:ea typeface="Arial"/>
                <a:cs typeface="Arial"/>
              </a:defRPr>
            </a:lvl1pPr>
            <a:lvl2pPr>
              <a:buNone/>
              <a:defRPr sz="2100" b="0">
                <a:solidFill>
                  <a:srgbClr val="17343C"/>
                </a:solidFill>
                <a:latin typeface="Arial"/>
                <a:ea typeface="Arial"/>
                <a:cs typeface="Arial"/>
              </a:defRPr>
            </a:lvl2pPr>
            <a:lvl3pPr>
              <a:buNone/>
              <a:defRPr sz="2100" b="0">
                <a:solidFill>
                  <a:srgbClr val="17343C"/>
                </a:solidFill>
                <a:latin typeface="Arial"/>
                <a:ea typeface="Arial"/>
                <a:cs typeface="Arial"/>
              </a:defRPr>
            </a:lvl3pPr>
            <a:lvl4pPr>
              <a:buNone/>
              <a:defRPr sz="2100" b="0">
                <a:solidFill>
                  <a:srgbClr val="17343C"/>
                </a:solidFill>
                <a:latin typeface="Arial"/>
                <a:ea typeface="Arial"/>
                <a:cs typeface="Arial"/>
              </a:defRPr>
            </a:lvl4pPr>
            <a:lvl5pPr>
              <a:buNone/>
              <a:defRPr sz="2100" b="0">
                <a:solidFill>
                  <a:srgbClr val="17343C"/>
                </a:solidFill>
                <a:latin typeface="Arial"/>
                <a:ea typeface="Arial"/>
                <a:cs typeface="Arial"/>
              </a:defRPr>
            </a:lvl5pPr>
            <a:lvl6pPr>
              <a:buNone/>
              <a:defRPr sz="2100" b="0">
                <a:solidFill>
                  <a:srgbClr val="17343C"/>
                </a:solidFill>
                <a:latin typeface="Arial"/>
                <a:ea typeface="Arial"/>
                <a:cs typeface="Arial"/>
              </a:defRPr>
            </a:lvl6pPr>
            <a:lvl7pPr>
              <a:buNone/>
              <a:defRPr sz="2100" b="0">
                <a:solidFill>
                  <a:srgbClr val="17343C"/>
                </a:solidFill>
                <a:latin typeface="Arial"/>
                <a:ea typeface="Arial"/>
                <a:cs typeface="Arial"/>
              </a:defRPr>
            </a:lvl7pPr>
            <a:lvl8pPr>
              <a:buNone/>
              <a:defRPr sz="2100" b="0">
                <a:solidFill>
                  <a:srgbClr val="17343C"/>
                </a:solidFill>
                <a:latin typeface="Arial"/>
                <a:ea typeface="Arial"/>
                <a:cs typeface="Arial"/>
              </a:defRPr>
            </a:lvl8pPr>
            <a:lvl9pPr>
              <a:buNone/>
              <a:defRPr sz="2100" b="0">
                <a:solidFill>
                  <a:srgbClr val="17343C"/>
                </a:solidFill>
                <a:latin typeface="Arial"/>
                <a:ea typeface="Arial"/>
                <a:cs typeface="Arial"/>
              </a:defRPr>
            </a:lvl9pPr>
          </a:lstStyle>
          <a:p xmlns:a="http://schemas.openxmlformats.org/drawingml/2006/main">
            <a:pPr>
              <a:buNone/>
              <a:defRPr sz="2100" b="0">
                <a:solidFill>
                  <a:srgbClr val="17343C"/>
                </a:solidFill>
                <a:latin typeface="Arial"/>
                <a:ea typeface="Arial"/>
                <a:cs typeface="Arial"/>
              </a:defRPr>
            </a:pPr>
            <a:r>
              <a:rPr sz="2100" b="0">
                <a:solidFill>
                  <a:srgbClr val="17343C"/>
                </a:solidFill>
                <a:latin typeface="Arial"/>
                <a:ea typeface="Arial"/>
                <a:cs typeface="Arial"/>
              </a:rPr>
              <a:t>Mean absolute test error</a:t>
            </a:r>
          </a:p>
        </p:txBody>
      </p:sp>
      <p:sp>
        <p:nvSpPr>
          <p:cNvPr id="5" name="">
            <a:extLst xmlns:a="http://schemas.openxmlformats.org/drawingml/2006/main">
              <a:ext uri="{FF2B5EF4-FFF2-40B4-BE49-F238E27FC236}">
                <a16:creationId xmlns:a16="http://schemas.microsoft.com/office/drawing/2014/main" id="{AF62C3F6-D05C-4EF4-8FC3-9C44C083A60F}"/>
              </a:ext>
            </a:extLst>
          </p:cNvPr>
          <p:cNvSpPr>
            <a:spLocks xmlns:a="http://schemas.openxmlformats.org/drawingml/2006/main" noGrp="1"/>
          </p:cNvSpPr>
          <p:nvPr/>
        </p:nvSpPr>
        <p:spPr>
          <a:xfrm xmlns:a="http://schemas.openxmlformats.org/drawingml/2006/main">
            <a:off x="762000" y="32385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43C"/>
                </a:solidFill>
                <a:latin typeface="Arial"/>
                <a:ea typeface="Arial"/>
                <a:cs typeface="Arial"/>
              </a:defRPr>
            </a:defPPr>
            <a:lvl1pPr>
              <a:buNone/>
              <a:defRPr sz="2400" b="0">
                <a:solidFill>
                  <a:srgbClr val="17343C"/>
                </a:solidFill>
                <a:latin typeface="Arial"/>
                <a:ea typeface="Arial"/>
                <a:cs typeface="Arial"/>
              </a:defRPr>
            </a:lvl1pPr>
            <a:lvl2pPr>
              <a:buNone/>
              <a:defRPr sz="2400" b="0">
                <a:solidFill>
                  <a:srgbClr val="17343C"/>
                </a:solidFill>
                <a:latin typeface="Arial"/>
                <a:ea typeface="Arial"/>
                <a:cs typeface="Arial"/>
              </a:defRPr>
            </a:lvl2pPr>
            <a:lvl3pPr>
              <a:buNone/>
              <a:defRPr sz="2400" b="0">
                <a:solidFill>
                  <a:srgbClr val="17343C"/>
                </a:solidFill>
                <a:latin typeface="Arial"/>
                <a:ea typeface="Arial"/>
                <a:cs typeface="Arial"/>
              </a:defRPr>
            </a:lvl3pPr>
            <a:lvl4pPr>
              <a:buNone/>
              <a:defRPr sz="2400" b="0">
                <a:solidFill>
                  <a:srgbClr val="17343C"/>
                </a:solidFill>
                <a:latin typeface="Arial"/>
                <a:ea typeface="Arial"/>
                <a:cs typeface="Arial"/>
              </a:defRPr>
            </a:lvl4pPr>
            <a:lvl5pPr>
              <a:buNone/>
              <a:defRPr sz="2400" b="0">
                <a:solidFill>
                  <a:srgbClr val="17343C"/>
                </a:solidFill>
                <a:latin typeface="Arial"/>
                <a:ea typeface="Arial"/>
                <a:cs typeface="Arial"/>
              </a:defRPr>
            </a:lvl5pPr>
            <a:lvl6pPr>
              <a:buNone/>
              <a:defRPr sz="2400" b="0">
                <a:solidFill>
                  <a:srgbClr val="17343C"/>
                </a:solidFill>
                <a:latin typeface="Arial"/>
                <a:ea typeface="Arial"/>
                <a:cs typeface="Arial"/>
              </a:defRPr>
            </a:lvl6pPr>
            <a:lvl7pPr>
              <a:buNone/>
              <a:defRPr sz="2400" b="0">
                <a:solidFill>
                  <a:srgbClr val="17343C"/>
                </a:solidFill>
                <a:latin typeface="Arial"/>
                <a:ea typeface="Arial"/>
                <a:cs typeface="Arial"/>
              </a:defRPr>
            </a:lvl7pPr>
            <a:lvl8pPr>
              <a:buNone/>
              <a:defRPr sz="2400" b="0">
                <a:solidFill>
                  <a:srgbClr val="17343C"/>
                </a:solidFill>
                <a:latin typeface="Arial"/>
                <a:ea typeface="Arial"/>
                <a:cs typeface="Arial"/>
              </a:defRPr>
            </a:lvl8pPr>
            <a:lvl9pPr>
              <a:buNone/>
              <a:defRPr sz="2400" b="0">
                <a:solidFill>
                  <a:srgbClr val="17343C"/>
                </a:solidFill>
                <a:latin typeface="Arial"/>
                <a:ea typeface="Arial"/>
                <a:cs typeface="Arial"/>
              </a:defRPr>
            </a:lvl9pPr>
          </a:lstStyle>
          <a:p xmlns:a="http://schemas.openxmlformats.org/drawingml/2006/main">
            <a:pPr>
              <a:buNone/>
              <a:defRPr sz="2400" b="0">
                <a:solidFill>
                  <a:srgbClr val="17343C"/>
                </a:solidFill>
                <a:latin typeface="Arial"/>
                <a:ea typeface="Arial"/>
                <a:cs typeface="Arial"/>
              </a:defRPr>
            </a:pPr>
            <a:r>
              <a:rPr sz="2400" b="0">
                <a:solidFill>
                  <a:srgbClr val="17343C"/>
                </a:solidFill>
                <a:latin typeface="Arial"/>
                <a:ea typeface="Arial"/>
                <a:cs typeface="Arial"/>
              </a:rPr>
              <a:t>21.2% lower MAE</a:t>
            </a:r>
          </a:p>
          <a:p xmlns:a="http://schemas.openxmlformats.org/drawingml/2006/main">
            <a:pPr>
              <a:buNone/>
              <a:defRPr sz="2400" b="0">
                <a:solidFill>
                  <a:srgbClr val="17343C"/>
                </a:solidFill>
                <a:latin typeface="Arial"/>
                <a:ea typeface="Arial"/>
                <a:cs typeface="Arial"/>
              </a:defRPr>
            </a:pPr>
            <a:r>
              <a:rPr sz="2400" b="0">
                <a:solidFill>
                  <a:srgbClr val="17343C"/>
                </a:solidFill>
                <a:latin typeface="Arial"/>
                <a:ea typeface="Arial"/>
                <a:cs typeface="Arial"/>
              </a:rPr>
              <a:t>than the median baseline</a:t>
            </a:r>
          </a:p>
        </p:txBody>
      </p:sp>
      <p:sp>
        <p:nvSpPr>
          <p:cNvPr id="6" name="">
            <a:extLst xmlns:a="http://schemas.openxmlformats.org/drawingml/2006/main">
              <a:ext uri="{FF2B5EF4-FFF2-40B4-BE49-F238E27FC236}">
                <a16:creationId xmlns:a16="http://schemas.microsoft.com/office/drawing/2014/main" id="{4A177745-FECA-4CB4-B004-5998AFCE321D}"/>
              </a:ext>
            </a:extLst>
          </p:cNvPr>
          <p:cNvSpPr>
            <a:spLocks xmlns:a="http://schemas.openxmlformats.org/drawingml/2006/main" noGrp="1"/>
          </p:cNvSpPr>
          <p:nvPr/>
        </p:nvSpPr>
        <p:spPr>
          <a:xfrm xmlns:a="http://schemas.openxmlformats.org/drawingml/2006/main">
            <a:off x="762000" y="4667250"/>
            <a:ext cx="4619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43C"/>
                </a:solidFill>
                <a:latin typeface="Arial"/>
                <a:ea typeface="Arial"/>
                <a:cs typeface="Arial"/>
              </a:defRPr>
            </a:defPPr>
            <a:lvl1pPr>
              <a:buNone/>
              <a:defRPr sz="1875" b="0">
                <a:solidFill>
                  <a:srgbClr val="17343C"/>
                </a:solidFill>
                <a:latin typeface="Arial"/>
                <a:ea typeface="Arial"/>
                <a:cs typeface="Arial"/>
              </a:defRPr>
            </a:lvl1pPr>
            <a:lvl2pPr>
              <a:buNone/>
              <a:defRPr sz="1875" b="0">
                <a:solidFill>
                  <a:srgbClr val="17343C"/>
                </a:solidFill>
                <a:latin typeface="Arial"/>
                <a:ea typeface="Arial"/>
                <a:cs typeface="Arial"/>
              </a:defRPr>
            </a:lvl2pPr>
            <a:lvl3pPr>
              <a:buNone/>
              <a:defRPr sz="1875" b="0">
                <a:solidFill>
                  <a:srgbClr val="17343C"/>
                </a:solidFill>
                <a:latin typeface="Arial"/>
                <a:ea typeface="Arial"/>
                <a:cs typeface="Arial"/>
              </a:defRPr>
            </a:lvl3pPr>
            <a:lvl4pPr>
              <a:buNone/>
              <a:defRPr sz="1875" b="0">
                <a:solidFill>
                  <a:srgbClr val="17343C"/>
                </a:solidFill>
                <a:latin typeface="Arial"/>
                <a:ea typeface="Arial"/>
                <a:cs typeface="Arial"/>
              </a:defRPr>
            </a:lvl4pPr>
            <a:lvl5pPr>
              <a:buNone/>
              <a:defRPr sz="1875" b="0">
                <a:solidFill>
                  <a:srgbClr val="17343C"/>
                </a:solidFill>
                <a:latin typeface="Arial"/>
                <a:ea typeface="Arial"/>
                <a:cs typeface="Arial"/>
              </a:defRPr>
            </a:lvl5pPr>
            <a:lvl6pPr>
              <a:buNone/>
              <a:defRPr sz="1875" b="0">
                <a:solidFill>
                  <a:srgbClr val="17343C"/>
                </a:solidFill>
                <a:latin typeface="Arial"/>
                <a:ea typeface="Arial"/>
                <a:cs typeface="Arial"/>
              </a:defRPr>
            </a:lvl6pPr>
            <a:lvl7pPr>
              <a:buNone/>
              <a:defRPr sz="1875" b="0">
                <a:solidFill>
                  <a:srgbClr val="17343C"/>
                </a:solidFill>
                <a:latin typeface="Arial"/>
                <a:ea typeface="Arial"/>
                <a:cs typeface="Arial"/>
              </a:defRPr>
            </a:lvl7pPr>
            <a:lvl8pPr>
              <a:buNone/>
              <a:defRPr sz="1875" b="0">
                <a:solidFill>
                  <a:srgbClr val="17343C"/>
                </a:solidFill>
                <a:latin typeface="Arial"/>
                <a:ea typeface="Arial"/>
                <a:cs typeface="Arial"/>
              </a:defRPr>
            </a:lvl8pPr>
            <a:lvl9pPr>
              <a:buNone/>
              <a:defRPr sz="1875" b="0">
                <a:solidFill>
                  <a:srgbClr val="17343C"/>
                </a:solidFill>
                <a:latin typeface="Arial"/>
                <a:ea typeface="Arial"/>
                <a:cs typeface="Arial"/>
              </a:defRPr>
            </a:lvl9pPr>
          </a:lstStyle>
          <a:p xmlns:a="http://schemas.openxmlformats.org/drawingml/2006/main">
            <a:pPr>
              <a:buNone/>
              <a:defRPr sz="1875" b="0">
                <a:solidFill>
                  <a:srgbClr val="17343C"/>
                </a:solidFill>
                <a:latin typeface="Arial"/>
                <a:ea typeface="Arial"/>
                <a:cs typeface="Arial"/>
              </a:defRPr>
            </a:pPr>
            <a:r>
              <a:rPr sz="1875" b="0">
                <a:solidFill>
                  <a:srgbClr val="17343C"/>
                </a:solidFill>
                <a:latin typeface="Arial"/>
                <a:ea typeface="Arial"/>
                <a:cs typeface="Arial"/>
              </a:rPr>
              <a:t>Gain vs submitted Ridge: 1.56 h</a:t>
            </a:r>
          </a:p>
          <a:p xmlns:a="http://schemas.openxmlformats.org/drawingml/2006/main">
            <a:pPr>
              <a:buNone/>
              <a:defRPr sz="1875" b="0">
                <a:solidFill>
                  <a:srgbClr val="17343C"/>
                </a:solidFill>
                <a:latin typeface="Arial"/>
                <a:ea typeface="Arial"/>
                <a:cs typeface="Arial"/>
              </a:defRPr>
            </a:pPr>
            <a:r>
              <a:rPr sz="1875" b="0">
                <a:solidFill>
                  <a:srgbClr val="17343C"/>
                </a:solidFill>
                <a:latin typeface="Arial"/>
                <a:ea typeface="Arial"/>
                <a:cs typeface="Arial"/>
              </a:rPr>
              <a:t>Paired 95% interval 1.29 to 1.81 h</a:t>
            </a:r>
          </a:p>
        </p:txBody>
      </p:sp>
      <p:graphicFrame>
        <p:nvGraphicFramePr>
          <p:cNvPr id="7" name="Chart">
            <a:extLst xmlns:a="http://schemas.openxmlformats.org/drawingml/2006/main">
              <a:ext uri="{FF2B5EF4-FFF2-40B4-BE49-F238E27FC236}">
                <a16:creationId xmlns:a16="http://schemas.microsoft.com/office/drawing/2014/main" id="{5C01EA7A-FD72-445E-A229-8D2C1CC2C3A6}"/>
              </a:ext>
            </a:extLst>
          </p:cNvPr>
          <p:cNvGraphicFramePr/>
          <p:nvPr/>
        </p:nvGraphicFramePr>
        <p:xfrm>
          <a:off xmlns:a="http://schemas.openxmlformats.org/drawingml/2006/main" x="6048375" y="1476375"/>
          <a:ext xmlns:a="http://schemas.openxmlformats.org/drawingml/2006/main" cx="5429250" cy="4000500"/>
        </p:xfrm>
        <a:graphic xmlns:a="http://schemas.openxmlformats.org/drawingml/2006/main">
          <a:graphicData uri="http://schemas.openxmlformats.org/drawingml/2006/chart">
            <c:chart xmlns:r="http://schemas.openxmlformats.org/officeDocument/2006/relationships" xmlns:c="http://schemas.openxmlformats.org/drawingml/2006/chart" r:id="Re17a200709c24b9b"/>
          </a:graphicData>
        </a:graphic>
      </p:graphicFrame>
      <p:sp>
        <p:nvSpPr>
          <p:cNvPr id="8" name="">
            <a:extLst xmlns:a="http://schemas.openxmlformats.org/drawingml/2006/main">
              <a:ext uri="{FF2B5EF4-FFF2-40B4-BE49-F238E27FC236}">
                <a16:creationId xmlns:a16="http://schemas.microsoft.com/office/drawing/2014/main" id="{73F72999-7830-456F-A82B-8CBA8A06BB03}"/>
              </a:ext>
            </a:extLst>
          </p:cNvPr>
          <p:cNvSpPr>
            <a:spLocks xmlns:a="http://schemas.openxmlformats.org/drawingml/2006/main" noGrp="1"/>
          </p:cNvSpPr>
          <p:nvPr/>
        </p:nvSpPr>
        <p:spPr>
          <a:xfrm xmlns:a="http://schemas.openxmlformats.org/drawingml/2006/main">
            <a:off x="714375" y="59055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778792"/>
                </a:solidFill>
                <a:latin typeface="Arial"/>
                <a:ea typeface="Arial"/>
                <a:cs typeface="Arial"/>
              </a:defRPr>
            </a:defPPr>
            <a:lvl1pPr>
              <a:buNone/>
              <a:defRPr sz="1800" b="0">
                <a:solidFill>
                  <a:srgbClr val="778792"/>
                </a:solidFill>
                <a:latin typeface="Arial"/>
                <a:ea typeface="Arial"/>
                <a:cs typeface="Arial"/>
              </a:defRPr>
            </a:lvl1pPr>
            <a:lvl2pPr>
              <a:buNone/>
              <a:defRPr sz="1800" b="0">
                <a:solidFill>
                  <a:srgbClr val="778792"/>
                </a:solidFill>
                <a:latin typeface="Arial"/>
                <a:ea typeface="Arial"/>
                <a:cs typeface="Arial"/>
              </a:defRPr>
            </a:lvl2pPr>
            <a:lvl3pPr>
              <a:buNone/>
              <a:defRPr sz="1800" b="0">
                <a:solidFill>
                  <a:srgbClr val="778792"/>
                </a:solidFill>
                <a:latin typeface="Arial"/>
                <a:ea typeface="Arial"/>
                <a:cs typeface="Arial"/>
              </a:defRPr>
            </a:lvl3pPr>
            <a:lvl4pPr>
              <a:buNone/>
              <a:defRPr sz="1800" b="0">
                <a:solidFill>
                  <a:srgbClr val="778792"/>
                </a:solidFill>
                <a:latin typeface="Arial"/>
                <a:ea typeface="Arial"/>
                <a:cs typeface="Arial"/>
              </a:defRPr>
            </a:lvl4pPr>
            <a:lvl5pPr>
              <a:buNone/>
              <a:defRPr sz="1800" b="0">
                <a:solidFill>
                  <a:srgbClr val="778792"/>
                </a:solidFill>
                <a:latin typeface="Arial"/>
                <a:ea typeface="Arial"/>
                <a:cs typeface="Arial"/>
              </a:defRPr>
            </a:lvl5pPr>
            <a:lvl6pPr>
              <a:buNone/>
              <a:defRPr sz="1800" b="0">
                <a:solidFill>
                  <a:srgbClr val="778792"/>
                </a:solidFill>
                <a:latin typeface="Arial"/>
                <a:ea typeface="Arial"/>
                <a:cs typeface="Arial"/>
              </a:defRPr>
            </a:lvl6pPr>
            <a:lvl7pPr>
              <a:buNone/>
              <a:defRPr sz="1800" b="0">
                <a:solidFill>
                  <a:srgbClr val="778792"/>
                </a:solidFill>
                <a:latin typeface="Arial"/>
                <a:ea typeface="Arial"/>
                <a:cs typeface="Arial"/>
              </a:defRPr>
            </a:lvl7pPr>
            <a:lvl8pPr>
              <a:buNone/>
              <a:defRPr sz="1800" b="0">
                <a:solidFill>
                  <a:srgbClr val="778792"/>
                </a:solidFill>
                <a:latin typeface="Arial"/>
                <a:ea typeface="Arial"/>
                <a:cs typeface="Arial"/>
              </a:defRPr>
            </a:lvl8pPr>
            <a:lvl9pPr>
              <a:buNone/>
              <a:defRPr sz="1800" b="0">
                <a:solidFill>
                  <a:srgbClr val="778792"/>
                </a:solidFill>
                <a:latin typeface="Arial"/>
                <a:ea typeface="Arial"/>
                <a:cs typeface="Arial"/>
              </a:defRPr>
            </a:lvl9pPr>
          </a:lstStyle>
          <a:p xmlns:a="http://schemas.openxmlformats.org/drawingml/2006/main">
            <a:pPr>
              <a:buNone/>
              <a:defRPr sz="1800" b="0">
                <a:solidFill>
                  <a:srgbClr val="778792"/>
                </a:solidFill>
                <a:latin typeface="Arial"/>
                <a:ea typeface="Arial"/>
                <a:cs typeface="Arial"/>
              </a:defRPr>
            </a:pPr>
            <a:r>
              <a:rPr sz="1800" b="0">
                <a:solidFill>
                  <a:srgbClr val="778792"/>
                </a:solidFill>
                <a:latin typeface="Arial"/>
                <a:ea typeface="Arial"/>
                <a:cs typeface="Arial"/>
              </a:rPr>
              <a:t>Full cohort retained. Extreme and open-ended games remain a limitation.</a:t>
            </a:r>
          </a:p>
        </p:txBody>
      </p:sp>
    </p:spTree>
    <p:extLst>
      <p:ext uri="{BB962C8B-B14F-4D97-AF65-F5344CB8AC3E}">
        <p14:creationId xmlns:p14="http://schemas.microsoft.com/office/powerpoint/2010/main" val="1871012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2647FB-F1DD-430E-9711-66C1CA88451E}"/>
              </a:ext>
            </a:extLst>
          </p:cNvPr>
          <p:cNvSpPr>
            <a:spLocks xmlns:a="http://schemas.openxmlformats.org/drawingml/2006/main" noGrp="1"/>
          </p:cNvSpPr>
          <p:nvPr/>
        </p:nvSpPr>
        <p:spPr>
          <a:xfrm xmlns:a="http://schemas.openxmlformats.org/drawingml/2006/main">
            <a:off x="590550" y="400050"/>
            <a:ext cx="11010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3C"/>
                </a:solidFill>
                <a:latin typeface="Arial"/>
                <a:ea typeface="Arial"/>
                <a:cs typeface="Arial"/>
              </a:defRPr>
            </a:defPPr>
            <a:lvl1pPr>
              <a:buNone/>
              <a:defRPr sz="3300" b="1">
                <a:solidFill>
                  <a:srgbClr val="17343C"/>
                </a:solidFill>
                <a:latin typeface="Arial"/>
                <a:ea typeface="Arial"/>
                <a:cs typeface="Arial"/>
              </a:defRPr>
            </a:lvl1pPr>
            <a:lvl2pPr>
              <a:buNone/>
              <a:defRPr sz="3300" b="1">
                <a:solidFill>
                  <a:srgbClr val="17343C"/>
                </a:solidFill>
                <a:latin typeface="Arial"/>
                <a:ea typeface="Arial"/>
                <a:cs typeface="Arial"/>
              </a:defRPr>
            </a:lvl2pPr>
            <a:lvl3pPr>
              <a:buNone/>
              <a:defRPr sz="3300" b="1">
                <a:solidFill>
                  <a:srgbClr val="17343C"/>
                </a:solidFill>
                <a:latin typeface="Arial"/>
                <a:ea typeface="Arial"/>
                <a:cs typeface="Arial"/>
              </a:defRPr>
            </a:lvl3pPr>
            <a:lvl4pPr>
              <a:buNone/>
              <a:defRPr sz="3300" b="1">
                <a:solidFill>
                  <a:srgbClr val="17343C"/>
                </a:solidFill>
                <a:latin typeface="Arial"/>
                <a:ea typeface="Arial"/>
                <a:cs typeface="Arial"/>
              </a:defRPr>
            </a:lvl4pPr>
            <a:lvl5pPr>
              <a:buNone/>
              <a:defRPr sz="3300" b="1">
                <a:solidFill>
                  <a:srgbClr val="17343C"/>
                </a:solidFill>
                <a:latin typeface="Arial"/>
                <a:ea typeface="Arial"/>
                <a:cs typeface="Arial"/>
              </a:defRPr>
            </a:lvl5pPr>
            <a:lvl6pPr>
              <a:buNone/>
              <a:defRPr sz="3300" b="1">
                <a:solidFill>
                  <a:srgbClr val="17343C"/>
                </a:solidFill>
                <a:latin typeface="Arial"/>
                <a:ea typeface="Arial"/>
                <a:cs typeface="Arial"/>
              </a:defRPr>
            </a:lvl6pPr>
            <a:lvl7pPr>
              <a:buNone/>
              <a:defRPr sz="3300" b="1">
                <a:solidFill>
                  <a:srgbClr val="17343C"/>
                </a:solidFill>
                <a:latin typeface="Arial"/>
                <a:ea typeface="Arial"/>
                <a:cs typeface="Arial"/>
              </a:defRPr>
            </a:lvl7pPr>
            <a:lvl8pPr>
              <a:buNone/>
              <a:defRPr sz="3300" b="1">
                <a:solidFill>
                  <a:srgbClr val="17343C"/>
                </a:solidFill>
                <a:latin typeface="Arial"/>
                <a:ea typeface="Arial"/>
                <a:cs typeface="Arial"/>
              </a:defRPr>
            </a:lvl8pPr>
            <a:lvl9pPr>
              <a:buNone/>
              <a:defRPr sz="3300" b="1">
                <a:solidFill>
                  <a:srgbClr val="17343C"/>
                </a:solidFill>
                <a:latin typeface="Arial"/>
                <a:ea typeface="Arial"/>
                <a:cs typeface="Arial"/>
              </a:defRPr>
            </a:lvl9pPr>
          </a:lstStyle>
          <a:p xmlns:a="http://schemas.openxmlformats.org/drawingml/2006/main">
            <a:pPr>
              <a:buNone/>
              <a:defRPr sz="3300" b="1">
                <a:solidFill>
                  <a:srgbClr val="17343C"/>
                </a:solidFill>
                <a:latin typeface="Arial"/>
                <a:ea typeface="Arial"/>
                <a:cs typeface="Arial"/>
              </a:defRPr>
            </a:pPr>
            <a:r>
              <a:rPr sz="3300" b="1">
                <a:solidFill>
                  <a:srgbClr val="17343C"/>
                </a:solidFill>
                <a:latin typeface="Arial"/>
                <a:ea typeface="Arial"/>
                <a:cs typeface="Arial"/>
              </a:rPr>
              <a:t>PCA and clustering without target labels</a:t>
            </a:r>
          </a:p>
        </p:txBody>
      </p:sp>
      <p:sp>
        <p:nvSpPr>
          <p:cNvPr id="2" name="">
            <a:extLst xmlns:a="http://schemas.openxmlformats.org/drawingml/2006/main">
              <a:ext uri="{FF2B5EF4-FFF2-40B4-BE49-F238E27FC236}">
                <a16:creationId xmlns:a16="http://schemas.microsoft.com/office/drawing/2014/main" id="{CCF2F9CA-C9F9-416C-AB9D-D69AC23BF63D}"/>
              </a:ext>
            </a:extLst>
          </p:cNvPr>
          <p:cNvSpPr>
            <a:spLocks xmlns:a="http://schemas.openxmlformats.org/drawingml/2006/main" noGrp="1"/>
          </p:cNvSpPr>
          <p:nvPr/>
        </p:nvSpPr>
        <p:spPr>
          <a:xfrm xmlns:a="http://schemas.openxmlformats.org/drawingml/2006/main">
            <a:off x="10763250" y="638175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78792"/>
                </a:solidFill>
                <a:latin typeface="Arial"/>
                <a:ea typeface="Arial"/>
                <a:cs typeface="Arial"/>
              </a:defRPr>
            </a:defPPr>
            <a:lvl1pPr>
              <a:buNone/>
              <a:defRPr sz="1350" b="0">
                <a:solidFill>
                  <a:srgbClr val="778792"/>
                </a:solidFill>
                <a:latin typeface="Arial"/>
                <a:ea typeface="Arial"/>
                <a:cs typeface="Arial"/>
              </a:defRPr>
            </a:lvl1pPr>
            <a:lvl2pPr>
              <a:buNone/>
              <a:defRPr sz="1350" b="0">
                <a:solidFill>
                  <a:srgbClr val="778792"/>
                </a:solidFill>
                <a:latin typeface="Arial"/>
                <a:ea typeface="Arial"/>
                <a:cs typeface="Arial"/>
              </a:defRPr>
            </a:lvl2pPr>
            <a:lvl3pPr>
              <a:buNone/>
              <a:defRPr sz="1350" b="0">
                <a:solidFill>
                  <a:srgbClr val="778792"/>
                </a:solidFill>
                <a:latin typeface="Arial"/>
                <a:ea typeface="Arial"/>
                <a:cs typeface="Arial"/>
              </a:defRPr>
            </a:lvl3pPr>
            <a:lvl4pPr>
              <a:buNone/>
              <a:defRPr sz="1350" b="0">
                <a:solidFill>
                  <a:srgbClr val="778792"/>
                </a:solidFill>
                <a:latin typeface="Arial"/>
                <a:ea typeface="Arial"/>
                <a:cs typeface="Arial"/>
              </a:defRPr>
            </a:lvl4pPr>
            <a:lvl5pPr>
              <a:buNone/>
              <a:defRPr sz="1350" b="0">
                <a:solidFill>
                  <a:srgbClr val="778792"/>
                </a:solidFill>
                <a:latin typeface="Arial"/>
                <a:ea typeface="Arial"/>
                <a:cs typeface="Arial"/>
              </a:defRPr>
            </a:lvl5pPr>
            <a:lvl6pPr>
              <a:buNone/>
              <a:defRPr sz="1350" b="0">
                <a:solidFill>
                  <a:srgbClr val="778792"/>
                </a:solidFill>
                <a:latin typeface="Arial"/>
                <a:ea typeface="Arial"/>
                <a:cs typeface="Arial"/>
              </a:defRPr>
            </a:lvl6pPr>
            <a:lvl7pPr>
              <a:buNone/>
              <a:defRPr sz="1350" b="0">
                <a:solidFill>
                  <a:srgbClr val="778792"/>
                </a:solidFill>
                <a:latin typeface="Arial"/>
                <a:ea typeface="Arial"/>
                <a:cs typeface="Arial"/>
              </a:defRPr>
            </a:lvl7pPr>
            <a:lvl8pPr>
              <a:buNone/>
              <a:defRPr sz="1350" b="0">
                <a:solidFill>
                  <a:srgbClr val="778792"/>
                </a:solidFill>
                <a:latin typeface="Arial"/>
                <a:ea typeface="Arial"/>
                <a:cs typeface="Arial"/>
              </a:defRPr>
            </a:lvl8pPr>
            <a:lvl9pPr>
              <a:buNone/>
              <a:defRPr sz="1350" b="0">
                <a:solidFill>
                  <a:srgbClr val="778792"/>
                </a:solidFill>
                <a:latin typeface="Arial"/>
                <a:ea typeface="Arial"/>
                <a:cs typeface="Arial"/>
              </a:defRPr>
            </a:lvl9pPr>
          </a:lstStyle>
          <a:p xmlns:a="http://schemas.openxmlformats.org/drawingml/2006/main">
            <a:pPr>
              <a:buNone/>
              <a:defRPr sz="1350" b="0">
                <a:solidFill>
                  <a:srgbClr val="778792"/>
                </a:solidFill>
                <a:latin typeface="Arial"/>
                <a:ea typeface="Arial"/>
                <a:cs typeface="Arial"/>
              </a:defRPr>
            </a:pPr>
            <a:r>
              <a:rPr sz="1350" b="0">
                <a:solidFill>
                  <a:srgbClr val="778792"/>
                </a:solidFill>
                <a:latin typeface="Arial"/>
                <a:ea typeface="Arial"/>
                <a:cs typeface="Arial"/>
              </a:rPr>
              <a:t>07 / 09</a:t>
            </a:r>
          </a:p>
        </p:txBody>
      </p:sp>
      <p:graphicFrame>
        <p:nvGraphicFramePr>
          <p:cNvPr id="3" name="Chart">
            <a:extLst xmlns:a="http://schemas.openxmlformats.org/drawingml/2006/main">
              <a:ext uri="{FF2B5EF4-FFF2-40B4-BE49-F238E27FC236}">
                <a16:creationId xmlns:a16="http://schemas.microsoft.com/office/drawing/2014/main" id="{B5466400-25C6-4677-8643-6853001609BA}"/>
              </a:ext>
            </a:extLst>
          </p:cNvPr>
          <p:cNvGraphicFramePr/>
          <p:nvPr/>
        </p:nvGraphicFramePr>
        <p:xfrm>
          <a:off xmlns:a="http://schemas.openxmlformats.org/drawingml/2006/main" x="666750" y="1571625"/>
          <a:ext xmlns:a="http://schemas.openxmlformats.org/drawingml/2006/main" cx="6334125" cy="3619500"/>
        </p:xfrm>
        <a:graphic xmlns:a="http://schemas.openxmlformats.org/drawingml/2006/main">
          <a:graphicData uri="http://schemas.openxmlformats.org/drawingml/2006/chart">
            <c:chart xmlns:r="http://schemas.openxmlformats.org/officeDocument/2006/relationships" xmlns:c="http://schemas.openxmlformats.org/drawingml/2006/chart" r:id="R0c0ce34037ae485b"/>
          </a:graphicData>
        </a:graphic>
      </p:graphicFrame>
      <p:sp>
        <p:nvSpPr>
          <p:cNvPr id="4" name="">
            <a:extLst xmlns:a="http://schemas.openxmlformats.org/drawingml/2006/main">
              <a:ext uri="{FF2B5EF4-FFF2-40B4-BE49-F238E27FC236}">
                <a16:creationId xmlns:a16="http://schemas.microsoft.com/office/drawing/2014/main" id="{F1025AB0-80D6-4692-9CC6-02910FE54D4F}"/>
              </a:ext>
            </a:extLst>
          </p:cNvPr>
          <p:cNvSpPr>
            <a:spLocks xmlns:a="http://schemas.openxmlformats.org/drawingml/2006/main" noGrp="1"/>
          </p:cNvSpPr>
          <p:nvPr/>
        </p:nvSpPr>
        <p:spPr>
          <a:xfrm xmlns:a="http://schemas.openxmlformats.org/drawingml/2006/main">
            <a:off x="7524750" y="1619250"/>
            <a:ext cx="400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B68"/>
                </a:solidFill>
                <a:latin typeface="Arial"/>
                <a:ea typeface="Arial"/>
                <a:cs typeface="Arial"/>
              </a:defRPr>
            </a:defPPr>
            <a:lvl1pPr>
              <a:buNone/>
              <a:defRPr sz="2325" b="1">
                <a:solidFill>
                  <a:srgbClr val="176B68"/>
                </a:solidFill>
                <a:latin typeface="Arial"/>
                <a:ea typeface="Arial"/>
                <a:cs typeface="Arial"/>
              </a:defRPr>
            </a:lvl1pPr>
            <a:lvl2pPr>
              <a:buNone/>
              <a:defRPr sz="2325" b="1">
                <a:solidFill>
                  <a:srgbClr val="176B68"/>
                </a:solidFill>
                <a:latin typeface="Arial"/>
                <a:ea typeface="Arial"/>
                <a:cs typeface="Arial"/>
              </a:defRPr>
            </a:lvl2pPr>
            <a:lvl3pPr>
              <a:buNone/>
              <a:defRPr sz="2325" b="1">
                <a:solidFill>
                  <a:srgbClr val="176B68"/>
                </a:solidFill>
                <a:latin typeface="Arial"/>
                <a:ea typeface="Arial"/>
                <a:cs typeface="Arial"/>
              </a:defRPr>
            </a:lvl3pPr>
            <a:lvl4pPr>
              <a:buNone/>
              <a:defRPr sz="2325" b="1">
                <a:solidFill>
                  <a:srgbClr val="176B68"/>
                </a:solidFill>
                <a:latin typeface="Arial"/>
                <a:ea typeface="Arial"/>
                <a:cs typeface="Arial"/>
              </a:defRPr>
            </a:lvl4pPr>
            <a:lvl5pPr>
              <a:buNone/>
              <a:defRPr sz="2325" b="1">
                <a:solidFill>
                  <a:srgbClr val="176B68"/>
                </a:solidFill>
                <a:latin typeface="Arial"/>
                <a:ea typeface="Arial"/>
                <a:cs typeface="Arial"/>
              </a:defRPr>
            </a:lvl5pPr>
            <a:lvl6pPr>
              <a:buNone/>
              <a:defRPr sz="2325" b="1">
                <a:solidFill>
                  <a:srgbClr val="176B68"/>
                </a:solidFill>
                <a:latin typeface="Arial"/>
                <a:ea typeface="Arial"/>
                <a:cs typeface="Arial"/>
              </a:defRPr>
            </a:lvl6pPr>
            <a:lvl7pPr>
              <a:buNone/>
              <a:defRPr sz="2325" b="1">
                <a:solidFill>
                  <a:srgbClr val="176B68"/>
                </a:solidFill>
                <a:latin typeface="Arial"/>
                <a:ea typeface="Arial"/>
                <a:cs typeface="Arial"/>
              </a:defRPr>
            </a:lvl7pPr>
            <a:lvl8pPr>
              <a:buNone/>
              <a:defRPr sz="2325" b="1">
                <a:solidFill>
                  <a:srgbClr val="176B68"/>
                </a:solidFill>
                <a:latin typeface="Arial"/>
                <a:ea typeface="Arial"/>
                <a:cs typeface="Arial"/>
              </a:defRPr>
            </a:lvl8pPr>
            <a:lvl9pPr>
              <a:buNone/>
              <a:defRPr sz="2325" b="1">
                <a:solidFill>
                  <a:srgbClr val="176B68"/>
                </a:solidFill>
                <a:latin typeface="Arial"/>
                <a:ea typeface="Arial"/>
                <a:cs typeface="Arial"/>
              </a:defRPr>
            </a:lvl9pPr>
          </a:lstStyle>
          <a:p xmlns:a="http://schemas.openxmlformats.org/drawingml/2006/main">
            <a:pPr>
              <a:buNone/>
              <a:defRPr sz="2325" b="1">
                <a:solidFill>
                  <a:srgbClr val="176B68"/>
                </a:solidFill>
                <a:latin typeface="Arial"/>
                <a:ea typeface="Arial"/>
                <a:cs typeface="Arial"/>
              </a:defRPr>
            </a:pPr>
            <a:r>
              <a:rPr sz="2325" b="1">
                <a:solidFill>
                  <a:srgbClr val="176B68"/>
                </a:solidFill>
                <a:latin typeface="Arial"/>
                <a:ea typeface="Arial"/>
                <a:cs typeface="Arial"/>
              </a:rPr>
              <a:t>65 PCA components</a:t>
            </a:r>
          </a:p>
          <a:p xmlns:a="http://schemas.openxmlformats.org/drawingml/2006/main">
            <a:pPr>
              <a:buNone/>
              <a:defRPr sz="2325" b="1">
                <a:solidFill>
                  <a:srgbClr val="176B68"/>
                </a:solidFill>
                <a:latin typeface="Arial"/>
                <a:ea typeface="Arial"/>
                <a:cs typeface="Arial"/>
              </a:defRPr>
            </a:pPr>
            <a:r>
              <a:rPr sz="2325" b="1">
                <a:solidFill>
                  <a:srgbClr val="176B68"/>
                </a:solidFill>
                <a:latin typeface="Arial"/>
                <a:ea typeface="Arial"/>
                <a:cs typeface="Arial"/>
              </a:rPr>
              <a:t>85.1% variance retained</a:t>
            </a:r>
          </a:p>
        </p:txBody>
      </p:sp>
      <p:sp>
        <p:nvSpPr>
          <p:cNvPr id="5" name="">
            <a:extLst xmlns:a="http://schemas.openxmlformats.org/drawingml/2006/main">
              <a:ext uri="{FF2B5EF4-FFF2-40B4-BE49-F238E27FC236}">
                <a16:creationId xmlns:a16="http://schemas.microsoft.com/office/drawing/2014/main" id="{6D4A97B1-D12C-4074-BC2E-4FEF5B8E4AC6}"/>
              </a:ext>
            </a:extLst>
          </p:cNvPr>
          <p:cNvSpPr>
            <a:spLocks xmlns:a="http://schemas.openxmlformats.org/drawingml/2006/main" noGrp="1"/>
          </p:cNvSpPr>
          <p:nvPr/>
        </p:nvSpPr>
        <p:spPr>
          <a:xfrm xmlns:a="http://schemas.openxmlformats.org/drawingml/2006/main">
            <a:off x="7524750" y="3143250"/>
            <a:ext cx="4048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3C"/>
                </a:solidFill>
                <a:latin typeface="Arial"/>
                <a:ea typeface="Arial"/>
                <a:cs typeface="Arial"/>
              </a:defRPr>
            </a:defPPr>
            <a:lvl1pPr>
              <a:buNone/>
              <a:defRPr sz="2100" b="0">
                <a:solidFill>
                  <a:srgbClr val="17343C"/>
                </a:solidFill>
                <a:latin typeface="Arial"/>
                <a:ea typeface="Arial"/>
                <a:cs typeface="Arial"/>
              </a:defRPr>
            </a:lvl1pPr>
            <a:lvl2pPr>
              <a:buNone/>
              <a:defRPr sz="2100" b="0">
                <a:solidFill>
                  <a:srgbClr val="17343C"/>
                </a:solidFill>
                <a:latin typeface="Arial"/>
                <a:ea typeface="Arial"/>
                <a:cs typeface="Arial"/>
              </a:defRPr>
            </a:lvl2pPr>
            <a:lvl3pPr>
              <a:buNone/>
              <a:defRPr sz="2100" b="0">
                <a:solidFill>
                  <a:srgbClr val="17343C"/>
                </a:solidFill>
                <a:latin typeface="Arial"/>
                <a:ea typeface="Arial"/>
                <a:cs typeface="Arial"/>
              </a:defRPr>
            </a:lvl3pPr>
            <a:lvl4pPr>
              <a:buNone/>
              <a:defRPr sz="2100" b="0">
                <a:solidFill>
                  <a:srgbClr val="17343C"/>
                </a:solidFill>
                <a:latin typeface="Arial"/>
                <a:ea typeface="Arial"/>
                <a:cs typeface="Arial"/>
              </a:defRPr>
            </a:lvl4pPr>
            <a:lvl5pPr>
              <a:buNone/>
              <a:defRPr sz="2100" b="0">
                <a:solidFill>
                  <a:srgbClr val="17343C"/>
                </a:solidFill>
                <a:latin typeface="Arial"/>
                <a:ea typeface="Arial"/>
                <a:cs typeface="Arial"/>
              </a:defRPr>
            </a:lvl5pPr>
            <a:lvl6pPr>
              <a:buNone/>
              <a:defRPr sz="2100" b="0">
                <a:solidFill>
                  <a:srgbClr val="17343C"/>
                </a:solidFill>
                <a:latin typeface="Arial"/>
                <a:ea typeface="Arial"/>
                <a:cs typeface="Arial"/>
              </a:defRPr>
            </a:lvl6pPr>
            <a:lvl7pPr>
              <a:buNone/>
              <a:defRPr sz="2100" b="0">
                <a:solidFill>
                  <a:srgbClr val="17343C"/>
                </a:solidFill>
                <a:latin typeface="Arial"/>
                <a:ea typeface="Arial"/>
                <a:cs typeface="Arial"/>
              </a:defRPr>
            </a:lvl7pPr>
            <a:lvl8pPr>
              <a:buNone/>
              <a:defRPr sz="2100" b="0">
                <a:solidFill>
                  <a:srgbClr val="17343C"/>
                </a:solidFill>
                <a:latin typeface="Arial"/>
                <a:ea typeface="Arial"/>
                <a:cs typeface="Arial"/>
              </a:defRPr>
            </a:lvl8pPr>
            <a:lvl9pPr>
              <a:buNone/>
              <a:defRPr sz="2100" b="0">
                <a:solidFill>
                  <a:srgbClr val="17343C"/>
                </a:solidFill>
                <a:latin typeface="Arial"/>
                <a:ea typeface="Arial"/>
                <a:cs typeface="Arial"/>
              </a:defRPr>
            </a:lvl9pPr>
          </a:lstStyle>
          <a:p xmlns:a="http://schemas.openxmlformats.org/drawingml/2006/main">
            <a:pPr>
              <a:buNone/>
              <a:defRPr sz="2100" b="0">
                <a:solidFill>
                  <a:srgbClr val="17343C"/>
                </a:solidFill>
                <a:latin typeface="Arial"/>
                <a:ea typeface="Arial"/>
                <a:cs typeface="Arial"/>
              </a:defRPr>
            </a:pPr>
            <a:r>
              <a:rPr sz="2100" b="0">
                <a:solidFill>
                  <a:srgbClr val="17343C"/>
                </a:solidFill>
                <a:latin typeface="Arial"/>
                <a:ea typeface="Arial"/>
                <a:cs typeface="Arial"/>
              </a:rPr>
              <a:t>Selected k = 6</a:t>
            </a:r>
          </a:p>
          <a:p xmlns:a="http://schemas.openxmlformats.org/drawingml/2006/main">
            <a:pPr>
              <a:buNone/>
              <a:defRPr sz="2100" b="0">
                <a:solidFill>
                  <a:srgbClr val="17343C"/>
                </a:solidFill>
                <a:latin typeface="Arial"/>
                <a:ea typeface="Arial"/>
                <a:cs typeface="Arial"/>
              </a:defRPr>
            </a:pPr>
            <a:r>
              <a:rPr sz="2100" b="0">
                <a:solidFill>
                  <a:srgbClr val="17343C"/>
                </a:solidFill>
                <a:latin typeface="Arial"/>
                <a:ea typeface="Arial"/>
                <a:cs typeface="Arial"/>
              </a:rPr>
              <a:t>Silhouette 0.078</a:t>
            </a:r>
          </a:p>
          <a:p xmlns:a="http://schemas.openxmlformats.org/drawingml/2006/main">
            <a:pPr>
              <a:buNone/>
              <a:defRPr sz="2100" b="0">
                <a:solidFill>
                  <a:srgbClr val="17343C"/>
                </a:solidFill>
                <a:latin typeface="Arial"/>
                <a:ea typeface="Arial"/>
                <a:cs typeface="Arial"/>
              </a:defRPr>
            </a:pPr>
            <a:r>
              <a:rPr sz="2100" b="0">
                <a:solidFill>
                  <a:srgbClr val="17343C"/>
                </a:solidFill>
                <a:latin typeface="Arial"/>
                <a:ea typeface="Arial"/>
                <a:cs typeface="Arial"/>
              </a:rPr>
              <a:t>Seed stability ARI 0.970</a:t>
            </a:r>
          </a:p>
        </p:txBody>
      </p:sp>
      <p:sp>
        <p:nvSpPr>
          <p:cNvPr id="6" name="">
            <a:extLst xmlns:a="http://schemas.openxmlformats.org/drawingml/2006/main">
              <a:ext uri="{FF2B5EF4-FFF2-40B4-BE49-F238E27FC236}">
                <a16:creationId xmlns:a16="http://schemas.microsoft.com/office/drawing/2014/main" id="{861B4123-6A58-4698-8EBA-48AE92440A6B}"/>
              </a:ext>
            </a:extLst>
          </p:cNvPr>
          <p:cNvSpPr>
            <a:spLocks xmlns:a="http://schemas.openxmlformats.org/drawingml/2006/main" noGrp="1"/>
          </p:cNvSpPr>
          <p:nvPr/>
        </p:nvSpPr>
        <p:spPr>
          <a:xfrm xmlns:a="http://schemas.openxmlformats.org/drawingml/2006/main">
            <a:off x="714375" y="57626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778792"/>
                </a:solidFill>
                <a:latin typeface="Arial"/>
                <a:ea typeface="Arial"/>
                <a:cs typeface="Arial"/>
              </a:defRPr>
            </a:defPPr>
            <a:lvl1pPr>
              <a:buNone/>
              <a:defRPr sz="1875" b="0">
                <a:solidFill>
                  <a:srgbClr val="778792"/>
                </a:solidFill>
                <a:latin typeface="Arial"/>
                <a:ea typeface="Arial"/>
                <a:cs typeface="Arial"/>
              </a:defRPr>
            </a:lvl1pPr>
            <a:lvl2pPr>
              <a:buNone/>
              <a:defRPr sz="1875" b="0">
                <a:solidFill>
                  <a:srgbClr val="778792"/>
                </a:solidFill>
                <a:latin typeface="Arial"/>
                <a:ea typeface="Arial"/>
                <a:cs typeface="Arial"/>
              </a:defRPr>
            </a:lvl2pPr>
            <a:lvl3pPr>
              <a:buNone/>
              <a:defRPr sz="1875" b="0">
                <a:solidFill>
                  <a:srgbClr val="778792"/>
                </a:solidFill>
                <a:latin typeface="Arial"/>
                <a:ea typeface="Arial"/>
                <a:cs typeface="Arial"/>
              </a:defRPr>
            </a:lvl3pPr>
            <a:lvl4pPr>
              <a:buNone/>
              <a:defRPr sz="1875" b="0">
                <a:solidFill>
                  <a:srgbClr val="778792"/>
                </a:solidFill>
                <a:latin typeface="Arial"/>
                <a:ea typeface="Arial"/>
                <a:cs typeface="Arial"/>
              </a:defRPr>
            </a:lvl4pPr>
            <a:lvl5pPr>
              <a:buNone/>
              <a:defRPr sz="1875" b="0">
                <a:solidFill>
                  <a:srgbClr val="778792"/>
                </a:solidFill>
                <a:latin typeface="Arial"/>
                <a:ea typeface="Arial"/>
                <a:cs typeface="Arial"/>
              </a:defRPr>
            </a:lvl5pPr>
            <a:lvl6pPr>
              <a:buNone/>
              <a:defRPr sz="1875" b="0">
                <a:solidFill>
                  <a:srgbClr val="778792"/>
                </a:solidFill>
                <a:latin typeface="Arial"/>
                <a:ea typeface="Arial"/>
                <a:cs typeface="Arial"/>
              </a:defRPr>
            </a:lvl6pPr>
            <a:lvl7pPr>
              <a:buNone/>
              <a:defRPr sz="1875" b="0">
                <a:solidFill>
                  <a:srgbClr val="778792"/>
                </a:solidFill>
                <a:latin typeface="Arial"/>
                <a:ea typeface="Arial"/>
                <a:cs typeface="Arial"/>
              </a:defRPr>
            </a:lvl7pPr>
            <a:lvl8pPr>
              <a:buNone/>
              <a:defRPr sz="1875" b="0">
                <a:solidFill>
                  <a:srgbClr val="778792"/>
                </a:solidFill>
                <a:latin typeface="Arial"/>
                <a:ea typeface="Arial"/>
                <a:cs typeface="Arial"/>
              </a:defRPr>
            </a:lvl8pPr>
            <a:lvl9pPr>
              <a:buNone/>
              <a:defRPr sz="1875" b="0">
                <a:solidFill>
                  <a:srgbClr val="778792"/>
                </a:solidFill>
                <a:latin typeface="Arial"/>
                <a:ea typeface="Arial"/>
                <a:cs typeface="Arial"/>
              </a:defRPr>
            </a:lvl9pPr>
          </a:lstStyle>
          <a:p xmlns:a="http://schemas.openxmlformats.org/drawingml/2006/main">
            <a:pPr>
              <a:buNone/>
              <a:defRPr sz="1875" b="0">
                <a:solidFill>
                  <a:srgbClr val="778792"/>
                </a:solidFill>
                <a:latin typeface="Arial"/>
                <a:ea typeface="Arial"/>
                <a:cs typeface="Arial"/>
              </a:defRPr>
            </a:pPr>
            <a:r>
              <a:rPr sz="1875" b="0">
                <a:solidFill>
                  <a:srgbClr val="778792"/>
                </a:solidFill>
                <a:latin typeface="Arial"/>
                <a:ea typeface="Arial"/>
                <a:cs typeface="Arial"/>
              </a:rPr>
              <a:t>Normalized IGDB categories only. The low silhouette shows overlapping groups.</a:t>
            </a:r>
          </a:p>
        </p:txBody>
      </p:sp>
    </p:spTree>
    <p:extLst>
      <p:ext uri="{BB962C8B-B14F-4D97-AF65-F5344CB8AC3E}">
        <p14:creationId xmlns:p14="http://schemas.microsoft.com/office/powerpoint/2010/main" val="2862392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A2CF1B-A883-4CAF-9721-6489A5D5CA91}"/>
              </a:ext>
            </a:extLst>
          </p:cNvPr>
          <p:cNvSpPr>
            <a:spLocks xmlns:a="http://schemas.openxmlformats.org/drawingml/2006/main" noGrp="1"/>
          </p:cNvSpPr>
          <p:nvPr/>
        </p:nvSpPr>
        <p:spPr>
          <a:xfrm xmlns:a="http://schemas.openxmlformats.org/drawingml/2006/main">
            <a:off x="590550" y="400050"/>
            <a:ext cx="11010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3C"/>
                </a:solidFill>
                <a:latin typeface="Arial"/>
                <a:ea typeface="Arial"/>
                <a:cs typeface="Arial"/>
              </a:defRPr>
            </a:defPPr>
            <a:lvl1pPr>
              <a:buNone/>
              <a:defRPr sz="3300" b="1">
                <a:solidFill>
                  <a:srgbClr val="17343C"/>
                </a:solidFill>
                <a:latin typeface="Arial"/>
                <a:ea typeface="Arial"/>
                <a:cs typeface="Arial"/>
              </a:defRPr>
            </a:lvl1pPr>
            <a:lvl2pPr>
              <a:buNone/>
              <a:defRPr sz="3300" b="1">
                <a:solidFill>
                  <a:srgbClr val="17343C"/>
                </a:solidFill>
                <a:latin typeface="Arial"/>
                <a:ea typeface="Arial"/>
                <a:cs typeface="Arial"/>
              </a:defRPr>
            </a:lvl2pPr>
            <a:lvl3pPr>
              <a:buNone/>
              <a:defRPr sz="3300" b="1">
                <a:solidFill>
                  <a:srgbClr val="17343C"/>
                </a:solidFill>
                <a:latin typeface="Arial"/>
                <a:ea typeface="Arial"/>
                <a:cs typeface="Arial"/>
              </a:defRPr>
            </a:lvl3pPr>
            <a:lvl4pPr>
              <a:buNone/>
              <a:defRPr sz="3300" b="1">
                <a:solidFill>
                  <a:srgbClr val="17343C"/>
                </a:solidFill>
                <a:latin typeface="Arial"/>
                <a:ea typeface="Arial"/>
                <a:cs typeface="Arial"/>
              </a:defRPr>
            </a:lvl4pPr>
            <a:lvl5pPr>
              <a:buNone/>
              <a:defRPr sz="3300" b="1">
                <a:solidFill>
                  <a:srgbClr val="17343C"/>
                </a:solidFill>
                <a:latin typeface="Arial"/>
                <a:ea typeface="Arial"/>
                <a:cs typeface="Arial"/>
              </a:defRPr>
            </a:lvl5pPr>
            <a:lvl6pPr>
              <a:buNone/>
              <a:defRPr sz="3300" b="1">
                <a:solidFill>
                  <a:srgbClr val="17343C"/>
                </a:solidFill>
                <a:latin typeface="Arial"/>
                <a:ea typeface="Arial"/>
                <a:cs typeface="Arial"/>
              </a:defRPr>
            </a:lvl6pPr>
            <a:lvl7pPr>
              <a:buNone/>
              <a:defRPr sz="3300" b="1">
                <a:solidFill>
                  <a:srgbClr val="17343C"/>
                </a:solidFill>
                <a:latin typeface="Arial"/>
                <a:ea typeface="Arial"/>
                <a:cs typeface="Arial"/>
              </a:defRPr>
            </a:lvl7pPr>
            <a:lvl8pPr>
              <a:buNone/>
              <a:defRPr sz="3300" b="1">
                <a:solidFill>
                  <a:srgbClr val="17343C"/>
                </a:solidFill>
                <a:latin typeface="Arial"/>
                <a:ea typeface="Arial"/>
                <a:cs typeface="Arial"/>
              </a:defRPr>
            </a:lvl8pPr>
            <a:lvl9pPr>
              <a:buNone/>
              <a:defRPr sz="3300" b="1">
                <a:solidFill>
                  <a:srgbClr val="17343C"/>
                </a:solidFill>
                <a:latin typeface="Arial"/>
                <a:ea typeface="Arial"/>
                <a:cs typeface="Arial"/>
              </a:defRPr>
            </a:lvl9pPr>
          </a:lstStyle>
          <a:p xmlns:a="http://schemas.openxmlformats.org/drawingml/2006/main">
            <a:pPr>
              <a:buNone/>
              <a:defRPr sz="3300" b="1">
                <a:solidFill>
                  <a:srgbClr val="17343C"/>
                </a:solidFill>
                <a:latin typeface="Arial"/>
                <a:ea typeface="Arial"/>
                <a:cs typeface="Arial"/>
              </a:defRPr>
            </a:pPr>
            <a:r>
              <a:rPr sz="3300" b="1">
                <a:solidFill>
                  <a:srgbClr val="17343C"/>
                </a:solidFill>
                <a:latin typeface="Arial"/>
                <a:ea typeface="Arial"/>
                <a:cs typeface="Arial"/>
              </a:rPr>
              <a:t>Neural network training and evaluation</a:t>
            </a:r>
          </a:p>
        </p:txBody>
      </p:sp>
      <p:sp>
        <p:nvSpPr>
          <p:cNvPr id="2" name="">
            <a:extLst xmlns:a="http://schemas.openxmlformats.org/drawingml/2006/main">
              <a:ext uri="{FF2B5EF4-FFF2-40B4-BE49-F238E27FC236}">
                <a16:creationId xmlns:a16="http://schemas.microsoft.com/office/drawing/2014/main" id="{26E7D832-75E2-42F4-AB5A-90C7B7AD73F9}"/>
              </a:ext>
            </a:extLst>
          </p:cNvPr>
          <p:cNvSpPr>
            <a:spLocks xmlns:a="http://schemas.openxmlformats.org/drawingml/2006/main" noGrp="1"/>
          </p:cNvSpPr>
          <p:nvPr/>
        </p:nvSpPr>
        <p:spPr>
          <a:xfrm xmlns:a="http://schemas.openxmlformats.org/drawingml/2006/main">
            <a:off x="10763250" y="638175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78792"/>
                </a:solidFill>
                <a:latin typeface="Arial"/>
                <a:ea typeface="Arial"/>
                <a:cs typeface="Arial"/>
              </a:defRPr>
            </a:defPPr>
            <a:lvl1pPr>
              <a:buNone/>
              <a:defRPr sz="1350" b="0">
                <a:solidFill>
                  <a:srgbClr val="778792"/>
                </a:solidFill>
                <a:latin typeface="Arial"/>
                <a:ea typeface="Arial"/>
                <a:cs typeface="Arial"/>
              </a:defRPr>
            </a:lvl1pPr>
            <a:lvl2pPr>
              <a:buNone/>
              <a:defRPr sz="1350" b="0">
                <a:solidFill>
                  <a:srgbClr val="778792"/>
                </a:solidFill>
                <a:latin typeface="Arial"/>
                <a:ea typeface="Arial"/>
                <a:cs typeface="Arial"/>
              </a:defRPr>
            </a:lvl2pPr>
            <a:lvl3pPr>
              <a:buNone/>
              <a:defRPr sz="1350" b="0">
                <a:solidFill>
                  <a:srgbClr val="778792"/>
                </a:solidFill>
                <a:latin typeface="Arial"/>
                <a:ea typeface="Arial"/>
                <a:cs typeface="Arial"/>
              </a:defRPr>
            </a:lvl3pPr>
            <a:lvl4pPr>
              <a:buNone/>
              <a:defRPr sz="1350" b="0">
                <a:solidFill>
                  <a:srgbClr val="778792"/>
                </a:solidFill>
                <a:latin typeface="Arial"/>
                <a:ea typeface="Arial"/>
                <a:cs typeface="Arial"/>
              </a:defRPr>
            </a:lvl4pPr>
            <a:lvl5pPr>
              <a:buNone/>
              <a:defRPr sz="1350" b="0">
                <a:solidFill>
                  <a:srgbClr val="778792"/>
                </a:solidFill>
                <a:latin typeface="Arial"/>
                <a:ea typeface="Arial"/>
                <a:cs typeface="Arial"/>
              </a:defRPr>
            </a:lvl5pPr>
            <a:lvl6pPr>
              <a:buNone/>
              <a:defRPr sz="1350" b="0">
                <a:solidFill>
                  <a:srgbClr val="778792"/>
                </a:solidFill>
                <a:latin typeface="Arial"/>
                <a:ea typeface="Arial"/>
                <a:cs typeface="Arial"/>
              </a:defRPr>
            </a:lvl6pPr>
            <a:lvl7pPr>
              <a:buNone/>
              <a:defRPr sz="1350" b="0">
                <a:solidFill>
                  <a:srgbClr val="778792"/>
                </a:solidFill>
                <a:latin typeface="Arial"/>
                <a:ea typeface="Arial"/>
                <a:cs typeface="Arial"/>
              </a:defRPr>
            </a:lvl7pPr>
            <a:lvl8pPr>
              <a:buNone/>
              <a:defRPr sz="1350" b="0">
                <a:solidFill>
                  <a:srgbClr val="778792"/>
                </a:solidFill>
                <a:latin typeface="Arial"/>
                <a:ea typeface="Arial"/>
                <a:cs typeface="Arial"/>
              </a:defRPr>
            </a:lvl8pPr>
            <a:lvl9pPr>
              <a:buNone/>
              <a:defRPr sz="1350" b="0">
                <a:solidFill>
                  <a:srgbClr val="778792"/>
                </a:solidFill>
                <a:latin typeface="Arial"/>
                <a:ea typeface="Arial"/>
                <a:cs typeface="Arial"/>
              </a:defRPr>
            </a:lvl9pPr>
          </a:lstStyle>
          <a:p xmlns:a="http://schemas.openxmlformats.org/drawingml/2006/main">
            <a:pPr>
              <a:buNone/>
              <a:defRPr sz="1350" b="0">
                <a:solidFill>
                  <a:srgbClr val="778792"/>
                </a:solidFill>
                <a:latin typeface="Arial"/>
                <a:ea typeface="Arial"/>
                <a:cs typeface="Arial"/>
              </a:defRPr>
            </a:pPr>
            <a:r>
              <a:rPr sz="1350" b="0">
                <a:solidFill>
                  <a:srgbClr val="778792"/>
                </a:solidFill>
                <a:latin typeface="Arial"/>
                <a:ea typeface="Arial"/>
                <a:cs typeface="Arial"/>
              </a:rPr>
              <a:t>08 / 09</a:t>
            </a:r>
          </a:p>
        </p:txBody>
      </p:sp>
      <p:graphicFrame>
        <p:nvGraphicFramePr>
          <p:cNvPr id="3" name="Chart">
            <a:extLst xmlns:a="http://schemas.openxmlformats.org/drawingml/2006/main">
              <a:ext uri="{FF2B5EF4-FFF2-40B4-BE49-F238E27FC236}">
                <a16:creationId xmlns:a16="http://schemas.microsoft.com/office/drawing/2014/main" id="{2AA17A97-0B4F-4977-84F3-87A4B4547D74}"/>
              </a:ext>
            </a:extLst>
          </p:cNvPr>
          <p:cNvGraphicFramePr/>
          <p:nvPr/>
        </p:nvGraphicFramePr>
        <p:xfrm>
          <a:off xmlns:a="http://schemas.openxmlformats.org/drawingml/2006/main" x="619125" y="1571625"/>
          <a:ext xmlns:a="http://schemas.openxmlformats.org/drawingml/2006/main" cx="6477000" cy="3810000"/>
        </p:xfrm>
        <a:graphic xmlns:a="http://schemas.openxmlformats.org/drawingml/2006/main">
          <a:graphicData uri="http://schemas.openxmlformats.org/drawingml/2006/chart">
            <c:chart xmlns:r="http://schemas.openxmlformats.org/officeDocument/2006/relationships" xmlns:c="http://schemas.openxmlformats.org/drawingml/2006/chart" r:id="Rfa6213d9ad16438e"/>
          </a:graphicData>
        </a:graphic>
      </p:graphicFrame>
      <p:sp>
        <p:nvSpPr>
          <p:cNvPr id="4" name="">
            <a:extLst xmlns:a="http://schemas.openxmlformats.org/drawingml/2006/main">
              <a:ext uri="{FF2B5EF4-FFF2-40B4-BE49-F238E27FC236}">
                <a16:creationId xmlns:a16="http://schemas.microsoft.com/office/drawing/2014/main" id="{06AA72EB-644D-4244-81D2-D113B5A4FBC7}"/>
              </a:ext>
            </a:extLst>
          </p:cNvPr>
          <p:cNvSpPr>
            <a:spLocks xmlns:a="http://schemas.openxmlformats.org/drawingml/2006/main" noGrp="1"/>
          </p:cNvSpPr>
          <p:nvPr/>
        </p:nvSpPr>
        <p:spPr>
          <a:xfrm xmlns:a="http://schemas.openxmlformats.org/drawingml/2006/main">
            <a:off x="7572375" y="1666875"/>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6B68"/>
                </a:solidFill>
                <a:latin typeface="Arial"/>
                <a:ea typeface="Arial"/>
                <a:cs typeface="Arial"/>
              </a:defRPr>
            </a:defPPr>
            <a:lvl1pPr>
              <a:buNone/>
              <a:defRPr sz="2250" b="1">
                <a:solidFill>
                  <a:srgbClr val="176B68"/>
                </a:solidFill>
                <a:latin typeface="Arial"/>
                <a:ea typeface="Arial"/>
                <a:cs typeface="Arial"/>
              </a:defRPr>
            </a:lvl1pPr>
            <a:lvl2pPr>
              <a:buNone/>
              <a:defRPr sz="2250" b="1">
                <a:solidFill>
                  <a:srgbClr val="176B68"/>
                </a:solidFill>
                <a:latin typeface="Arial"/>
                <a:ea typeface="Arial"/>
                <a:cs typeface="Arial"/>
              </a:defRPr>
            </a:lvl2pPr>
            <a:lvl3pPr>
              <a:buNone/>
              <a:defRPr sz="2250" b="1">
                <a:solidFill>
                  <a:srgbClr val="176B68"/>
                </a:solidFill>
                <a:latin typeface="Arial"/>
                <a:ea typeface="Arial"/>
                <a:cs typeface="Arial"/>
              </a:defRPr>
            </a:lvl3pPr>
            <a:lvl4pPr>
              <a:buNone/>
              <a:defRPr sz="2250" b="1">
                <a:solidFill>
                  <a:srgbClr val="176B68"/>
                </a:solidFill>
                <a:latin typeface="Arial"/>
                <a:ea typeface="Arial"/>
                <a:cs typeface="Arial"/>
              </a:defRPr>
            </a:lvl4pPr>
            <a:lvl5pPr>
              <a:buNone/>
              <a:defRPr sz="2250" b="1">
                <a:solidFill>
                  <a:srgbClr val="176B68"/>
                </a:solidFill>
                <a:latin typeface="Arial"/>
                <a:ea typeface="Arial"/>
                <a:cs typeface="Arial"/>
              </a:defRPr>
            </a:lvl5pPr>
            <a:lvl6pPr>
              <a:buNone/>
              <a:defRPr sz="2250" b="1">
                <a:solidFill>
                  <a:srgbClr val="176B68"/>
                </a:solidFill>
                <a:latin typeface="Arial"/>
                <a:ea typeface="Arial"/>
                <a:cs typeface="Arial"/>
              </a:defRPr>
            </a:lvl6pPr>
            <a:lvl7pPr>
              <a:buNone/>
              <a:defRPr sz="2250" b="1">
                <a:solidFill>
                  <a:srgbClr val="176B68"/>
                </a:solidFill>
                <a:latin typeface="Arial"/>
                <a:ea typeface="Arial"/>
                <a:cs typeface="Arial"/>
              </a:defRPr>
            </a:lvl7pPr>
            <a:lvl8pPr>
              <a:buNone/>
              <a:defRPr sz="2250" b="1">
                <a:solidFill>
                  <a:srgbClr val="176B68"/>
                </a:solidFill>
                <a:latin typeface="Arial"/>
                <a:ea typeface="Arial"/>
                <a:cs typeface="Arial"/>
              </a:defRPr>
            </a:lvl8pPr>
            <a:lvl9pPr>
              <a:buNone/>
              <a:defRPr sz="2250" b="1">
                <a:solidFill>
                  <a:srgbClr val="176B68"/>
                </a:solidFill>
                <a:latin typeface="Arial"/>
                <a:ea typeface="Arial"/>
                <a:cs typeface="Arial"/>
              </a:defRPr>
            </a:lvl9pPr>
          </a:lstStyle>
          <a:p xmlns:a="http://schemas.openxmlformats.org/drawingml/2006/main">
            <a:pPr>
              <a:buNone/>
              <a:defRPr sz="2250" b="1">
                <a:solidFill>
                  <a:srgbClr val="176B68"/>
                </a:solidFill>
                <a:latin typeface="Arial"/>
                <a:ea typeface="Arial"/>
                <a:cs typeface="Arial"/>
              </a:defRPr>
            </a:pPr>
            <a:r>
              <a:rPr sz="2250" b="1">
                <a:solidFill>
                  <a:srgbClr val="176B68"/>
                </a:solidFill>
                <a:latin typeface="Arial"/>
                <a:ea typeface="Arial"/>
                <a:cs typeface="Arial"/>
              </a:rPr>
              <a:t>Hidden layers 64 / 32</a:t>
            </a:r>
          </a:p>
        </p:txBody>
      </p:sp>
      <p:sp>
        <p:nvSpPr>
          <p:cNvPr id="5" name="">
            <a:extLst xmlns:a="http://schemas.openxmlformats.org/drawingml/2006/main">
              <a:ext uri="{FF2B5EF4-FFF2-40B4-BE49-F238E27FC236}">
                <a16:creationId xmlns:a16="http://schemas.microsoft.com/office/drawing/2014/main" id="{89252321-7D86-4E73-8917-B436980DF994}"/>
              </a:ext>
            </a:extLst>
          </p:cNvPr>
          <p:cNvSpPr>
            <a:spLocks xmlns:a="http://schemas.openxmlformats.org/drawingml/2006/main" noGrp="1"/>
          </p:cNvSpPr>
          <p:nvPr/>
        </p:nvSpPr>
        <p:spPr>
          <a:xfrm xmlns:a="http://schemas.openxmlformats.org/drawingml/2006/main">
            <a:off x="7572375" y="2476500"/>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3C"/>
                </a:solidFill>
                <a:latin typeface="Arial"/>
                <a:ea typeface="Arial"/>
                <a:cs typeface="Arial"/>
              </a:defRPr>
            </a:defPPr>
            <a:lvl1pPr>
              <a:buNone/>
              <a:defRPr sz="2100" b="0">
                <a:solidFill>
                  <a:srgbClr val="17343C"/>
                </a:solidFill>
                <a:latin typeface="Arial"/>
                <a:ea typeface="Arial"/>
                <a:cs typeface="Arial"/>
              </a:defRPr>
            </a:lvl1pPr>
            <a:lvl2pPr>
              <a:buNone/>
              <a:defRPr sz="2100" b="0">
                <a:solidFill>
                  <a:srgbClr val="17343C"/>
                </a:solidFill>
                <a:latin typeface="Arial"/>
                <a:ea typeface="Arial"/>
                <a:cs typeface="Arial"/>
              </a:defRPr>
            </a:lvl2pPr>
            <a:lvl3pPr>
              <a:buNone/>
              <a:defRPr sz="2100" b="0">
                <a:solidFill>
                  <a:srgbClr val="17343C"/>
                </a:solidFill>
                <a:latin typeface="Arial"/>
                <a:ea typeface="Arial"/>
                <a:cs typeface="Arial"/>
              </a:defRPr>
            </a:lvl3pPr>
            <a:lvl4pPr>
              <a:buNone/>
              <a:defRPr sz="2100" b="0">
                <a:solidFill>
                  <a:srgbClr val="17343C"/>
                </a:solidFill>
                <a:latin typeface="Arial"/>
                <a:ea typeface="Arial"/>
                <a:cs typeface="Arial"/>
              </a:defRPr>
            </a:lvl4pPr>
            <a:lvl5pPr>
              <a:buNone/>
              <a:defRPr sz="2100" b="0">
                <a:solidFill>
                  <a:srgbClr val="17343C"/>
                </a:solidFill>
                <a:latin typeface="Arial"/>
                <a:ea typeface="Arial"/>
                <a:cs typeface="Arial"/>
              </a:defRPr>
            </a:lvl5pPr>
            <a:lvl6pPr>
              <a:buNone/>
              <a:defRPr sz="2100" b="0">
                <a:solidFill>
                  <a:srgbClr val="17343C"/>
                </a:solidFill>
                <a:latin typeface="Arial"/>
                <a:ea typeface="Arial"/>
                <a:cs typeface="Arial"/>
              </a:defRPr>
            </a:lvl6pPr>
            <a:lvl7pPr>
              <a:buNone/>
              <a:defRPr sz="2100" b="0">
                <a:solidFill>
                  <a:srgbClr val="17343C"/>
                </a:solidFill>
                <a:latin typeface="Arial"/>
                <a:ea typeface="Arial"/>
                <a:cs typeface="Arial"/>
              </a:defRPr>
            </a:lvl7pPr>
            <a:lvl8pPr>
              <a:buNone/>
              <a:defRPr sz="2100" b="0">
                <a:solidFill>
                  <a:srgbClr val="17343C"/>
                </a:solidFill>
                <a:latin typeface="Arial"/>
                <a:ea typeface="Arial"/>
                <a:cs typeface="Arial"/>
              </a:defRPr>
            </a:lvl8pPr>
            <a:lvl9pPr>
              <a:buNone/>
              <a:defRPr sz="2100" b="0">
                <a:solidFill>
                  <a:srgbClr val="17343C"/>
                </a:solidFill>
                <a:latin typeface="Arial"/>
                <a:ea typeface="Arial"/>
                <a:cs typeface="Arial"/>
              </a:defRPr>
            </a:lvl9pPr>
          </a:lstStyle>
          <a:p xmlns:a="http://schemas.openxmlformats.org/drawingml/2006/main">
            <a:pPr>
              <a:buNone/>
              <a:defRPr sz="2100" b="0">
                <a:solidFill>
                  <a:srgbClr val="17343C"/>
                </a:solidFill>
                <a:latin typeface="Arial"/>
                <a:ea typeface="Arial"/>
                <a:cs typeface="Arial"/>
              </a:defRPr>
            </a:pPr>
            <a:r>
              <a:rPr sz="2100" b="0">
                <a:solidFill>
                  <a:srgbClr val="17343C"/>
                </a:solidFill>
                <a:latin typeface="Arial"/>
                <a:ea typeface="Arial"/>
                <a:cs typeface="Arial"/>
              </a:rPr>
              <a:t>L2 penalty 0.1</a:t>
            </a:r>
          </a:p>
          <a:p xmlns:a="http://schemas.openxmlformats.org/drawingml/2006/main">
            <a:pPr>
              <a:buNone/>
              <a:defRPr sz="2100" b="0">
                <a:solidFill>
                  <a:srgbClr val="17343C"/>
                </a:solidFill>
                <a:latin typeface="Arial"/>
                <a:ea typeface="Arial"/>
                <a:cs typeface="Arial"/>
              </a:defRPr>
            </a:pPr>
            <a:r>
              <a:rPr sz="2100" b="0">
                <a:solidFill>
                  <a:srgbClr val="17343C"/>
                </a:solidFill>
                <a:latin typeface="Arial"/>
                <a:ea typeface="Arial"/>
                <a:cs typeface="Arial"/>
              </a:rPr>
              <a:t>30 training iterations</a:t>
            </a:r>
          </a:p>
          <a:p xmlns:a="http://schemas.openxmlformats.org/drawingml/2006/main">
            <a:pPr>
              <a:buNone/>
              <a:defRPr sz="2100" b="0">
                <a:solidFill>
                  <a:srgbClr val="17343C"/>
                </a:solidFill>
                <a:latin typeface="Arial"/>
                <a:ea typeface="Arial"/>
                <a:cs typeface="Arial"/>
              </a:defRPr>
            </a:pPr>
            <a:r>
              <a:rPr sz="2100" b="0">
                <a:solidFill>
                  <a:srgbClr val="17343C"/>
                </a:solidFill>
                <a:latin typeface="Arial"/>
                <a:ea typeface="Arial"/>
                <a:cs typeface="Arial"/>
              </a:rPr>
              <a:t>Early stopping enabled</a:t>
            </a:r>
          </a:p>
        </p:txBody>
      </p:sp>
      <p:sp>
        <p:nvSpPr>
          <p:cNvPr id="6" name="">
            <a:extLst xmlns:a="http://schemas.openxmlformats.org/drawingml/2006/main">
              <a:ext uri="{FF2B5EF4-FFF2-40B4-BE49-F238E27FC236}">
                <a16:creationId xmlns:a16="http://schemas.microsoft.com/office/drawing/2014/main" id="{4DD2EB95-B95E-4C53-ADBC-3F6344BEA75B}"/>
              </a:ext>
            </a:extLst>
          </p:cNvPr>
          <p:cNvSpPr>
            <a:spLocks xmlns:a="http://schemas.openxmlformats.org/drawingml/2006/main" noGrp="1"/>
          </p:cNvSpPr>
          <p:nvPr/>
        </p:nvSpPr>
        <p:spPr>
          <a:xfrm xmlns:a="http://schemas.openxmlformats.org/drawingml/2006/main">
            <a:off x="7572375" y="442912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B68"/>
                </a:solidFill>
                <a:latin typeface="Arial"/>
                <a:ea typeface="Arial"/>
                <a:cs typeface="Arial"/>
              </a:defRPr>
            </a:defPPr>
            <a:lvl1pPr>
              <a:buNone/>
              <a:defRPr sz="2325" b="1">
                <a:solidFill>
                  <a:srgbClr val="176B68"/>
                </a:solidFill>
                <a:latin typeface="Arial"/>
                <a:ea typeface="Arial"/>
                <a:cs typeface="Arial"/>
              </a:defRPr>
            </a:lvl1pPr>
            <a:lvl2pPr>
              <a:buNone/>
              <a:defRPr sz="2325" b="1">
                <a:solidFill>
                  <a:srgbClr val="176B68"/>
                </a:solidFill>
                <a:latin typeface="Arial"/>
                <a:ea typeface="Arial"/>
                <a:cs typeface="Arial"/>
              </a:defRPr>
            </a:lvl2pPr>
            <a:lvl3pPr>
              <a:buNone/>
              <a:defRPr sz="2325" b="1">
                <a:solidFill>
                  <a:srgbClr val="176B68"/>
                </a:solidFill>
                <a:latin typeface="Arial"/>
                <a:ea typeface="Arial"/>
                <a:cs typeface="Arial"/>
              </a:defRPr>
            </a:lvl3pPr>
            <a:lvl4pPr>
              <a:buNone/>
              <a:defRPr sz="2325" b="1">
                <a:solidFill>
                  <a:srgbClr val="176B68"/>
                </a:solidFill>
                <a:latin typeface="Arial"/>
                <a:ea typeface="Arial"/>
                <a:cs typeface="Arial"/>
              </a:defRPr>
            </a:lvl4pPr>
            <a:lvl5pPr>
              <a:buNone/>
              <a:defRPr sz="2325" b="1">
                <a:solidFill>
                  <a:srgbClr val="176B68"/>
                </a:solidFill>
                <a:latin typeface="Arial"/>
                <a:ea typeface="Arial"/>
                <a:cs typeface="Arial"/>
              </a:defRPr>
            </a:lvl5pPr>
            <a:lvl6pPr>
              <a:buNone/>
              <a:defRPr sz="2325" b="1">
                <a:solidFill>
                  <a:srgbClr val="176B68"/>
                </a:solidFill>
                <a:latin typeface="Arial"/>
                <a:ea typeface="Arial"/>
                <a:cs typeface="Arial"/>
              </a:defRPr>
            </a:lvl6pPr>
            <a:lvl7pPr>
              <a:buNone/>
              <a:defRPr sz="2325" b="1">
                <a:solidFill>
                  <a:srgbClr val="176B68"/>
                </a:solidFill>
                <a:latin typeface="Arial"/>
                <a:ea typeface="Arial"/>
                <a:cs typeface="Arial"/>
              </a:defRPr>
            </a:lvl7pPr>
            <a:lvl8pPr>
              <a:buNone/>
              <a:defRPr sz="2325" b="1">
                <a:solidFill>
                  <a:srgbClr val="176B68"/>
                </a:solidFill>
                <a:latin typeface="Arial"/>
                <a:ea typeface="Arial"/>
                <a:cs typeface="Arial"/>
              </a:defRPr>
            </a:lvl8pPr>
            <a:lvl9pPr>
              <a:buNone/>
              <a:defRPr sz="2325" b="1">
                <a:solidFill>
                  <a:srgbClr val="176B68"/>
                </a:solidFill>
                <a:latin typeface="Arial"/>
                <a:ea typeface="Arial"/>
                <a:cs typeface="Arial"/>
              </a:defRPr>
            </a:lvl9pPr>
          </a:lstStyle>
          <a:p xmlns:a="http://schemas.openxmlformats.org/drawingml/2006/main">
            <a:pPr>
              <a:buNone/>
              <a:defRPr sz="2325" b="1">
                <a:solidFill>
                  <a:srgbClr val="176B68"/>
                </a:solidFill>
                <a:latin typeface="Arial"/>
                <a:ea typeface="Arial"/>
                <a:cs typeface="Arial"/>
              </a:defRPr>
            </a:pPr>
            <a:r>
              <a:rPr sz="2325" b="1">
                <a:solidFill>
                  <a:srgbClr val="176B68"/>
                </a:solidFill>
                <a:latin typeface="Arial"/>
                <a:ea typeface="Arial"/>
                <a:cs typeface="Arial"/>
              </a:rPr>
              <a:t>CV MAE 9.02 h</a:t>
            </a:r>
          </a:p>
          <a:p xmlns:a="http://schemas.openxmlformats.org/drawingml/2006/main">
            <a:pPr>
              <a:buNone/>
              <a:defRPr sz="2325" b="1">
                <a:solidFill>
                  <a:srgbClr val="176B68"/>
                </a:solidFill>
                <a:latin typeface="Arial"/>
                <a:ea typeface="Arial"/>
                <a:cs typeface="Arial"/>
              </a:defRPr>
            </a:pPr>
            <a:r>
              <a:rPr sz="2325" b="1">
                <a:solidFill>
                  <a:srgbClr val="176B68"/>
                </a:solidFill>
                <a:latin typeface="Arial"/>
                <a:ea typeface="Arial"/>
                <a:cs typeface="Arial"/>
              </a:rPr>
              <a:t>Test MAE 10.41 h</a:t>
            </a:r>
          </a:p>
        </p:txBody>
      </p:sp>
      <p:sp>
        <p:nvSpPr>
          <p:cNvPr id="7" name="">
            <a:extLst xmlns:a="http://schemas.openxmlformats.org/drawingml/2006/main">
              <a:ext uri="{FF2B5EF4-FFF2-40B4-BE49-F238E27FC236}">
                <a16:creationId xmlns:a16="http://schemas.microsoft.com/office/drawing/2014/main" id="{BE2BD83A-F698-4838-AF33-781FC71430D6}"/>
              </a:ext>
            </a:extLst>
          </p:cNvPr>
          <p:cNvSpPr>
            <a:spLocks xmlns:a="http://schemas.openxmlformats.org/drawingml/2006/main" noGrp="1"/>
          </p:cNvSpPr>
          <p:nvPr/>
        </p:nvSpPr>
        <p:spPr>
          <a:xfrm xmlns:a="http://schemas.openxmlformats.org/drawingml/2006/main">
            <a:off x="714375" y="58578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778792"/>
                </a:solidFill>
                <a:latin typeface="Arial"/>
                <a:ea typeface="Arial"/>
                <a:cs typeface="Arial"/>
              </a:defRPr>
            </a:defPPr>
            <a:lvl1pPr>
              <a:buNone/>
              <a:defRPr sz="1800" b="0">
                <a:solidFill>
                  <a:srgbClr val="778792"/>
                </a:solidFill>
                <a:latin typeface="Arial"/>
                <a:ea typeface="Arial"/>
                <a:cs typeface="Arial"/>
              </a:defRPr>
            </a:lvl1pPr>
            <a:lvl2pPr>
              <a:buNone/>
              <a:defRPr sz="1800" b="0">
                <a:solidFill>
                  <a:srgbClr val="778792"/>
                </a:solidFill>
                <a:latin typeface="Arial"/>
                <a:ea typeface="Arial"/>
                <a:cs typeface="Arial"/>
              </a:defRPr>
            </a:lvl2pPr>
            <a:lvl3pPr>
              <a:buNone/>
              <a:defRPr sz="1800" b="0">
                <a:solidFill>
                  <a:srgbClr val="778792"/>
                </a:solidFill>
                <a:latin typeface="Arial"/>
                <a:ea typeface="Arial"/>
                <a:cs typeface="Arial"/>
              </a:defRPr>
            </a:lvl3pPr>
            <a:lvl4pPr>
              <a:buNone/>
              <a:defRPr sz="1800" b="0">
                <a:solidFill>
                  <a:srgbClr val="778792"/>
                </a:solidFill>
                <a:latin typeface="Arial"/>
                <a:ea typeface="Arial"/>
                <a:cs typeface="Arial"/>
              </a:defRPr>
            </a:lvl4pPr>
            <a:lvl5pPr>
              <a:buNone/>
              <a:defRPr sz="1800" b="0">
                <a:solidFill>
                  <a:srgbClr val="778792"/>
                </a:solidFill>
                <a:latin typeface="Arial"/>
                <a:ea typeface="Arial"/>
                <a:cs typeface="Arial"/>
              </a:defRPr>
            </a:lvl5pPr>
            <a:lvl6pPr>
              <a:buNone/>
              <a:defRPr sz="1800" b="0">
                <a:solidFill>
                  <a:srgbClr val="778792"/>
                </a:solidFill>
                <a:latin typeface="Arial"/>
                <a:ea typeface="Arial"/>
                <a:cs typeface="Arial"/>
              </a:defRPr>
            </a:lvl6pPr>
            <a:lvl7pPr>
              <a:buNone/>
              <a:defRPr sz="1800" b="0">
                <a:solidFill>
                  <a:srgbClr val="778792"/>
                </a:solidFill>
                <a:latin typeface="Arial"/>
                <a:ea typeface="Arial"/>
                <a:cs typeface="Arial"/>
              </a:defRPr>
            </a:lvl7pPr>
            <a:lvl8pPr>
              <a:buNone/>
              <a:defRPr sz="1800" b="0">
                <a:solidFill>
                  <a:srgbClr val="778792"/>
                </a:solidFill>
                <a:latin typeface="Arial"/>
                <a:ea typeface="Arial"/>
                <a:cs typeface="Arial"/>
              </a:defRPr>
            </a:lvl8pPr>
            <a:lvl9pPr>
              <a:buNone/>
              <a:defRPr sz="1800" b="0">
                <a:solidFill>
                  <a:srgbClr val="778792"/>
                </a:solidFill>
                <a:latin typeface="Arial"/>
                <a:ea typeface="Arial"/>
                <a:cs typeface="Arial"/>
              </a:defRPr>
            </a:lvl9pPr>
          </a:lstStyle>
          <a:p xmlns:a="http://schemas.openxmlformats.org/drawingml/2006/main">
            <a:pPr>
              <a:buNone/>
              <a:defRPr sz="1800" b="0">
                <a:solidFill>
                  <a:srgbClr val="778792"/>
                </a:solidFill>
                <a:latin typeface="Arial"/>
                <a:ea typeface="Arial"/>
                <a:cs typeface="Arial"/>
              </a:defRPr>
            </a:pPr>
            <a:r>
              <a:rPr sz="1800" b="0">
                <a:solidFill>
                  <a:srgbClr val="778792"/>
                </a:solidFill>
                <a:latin typeface="Arial"/>
                <a:ea typeface="Arial"/>
                <a:cs typeface="Arial"/>
              </a:rPr>
              <a:t>Model selection follows CV performance. Complexity alone does not earn a better score.</a:t>
            </a:r>
          </a:p>
        </p:txBody>
      </p:sp>
    </p:spTree>
    <p:extLst>
      <p:ext uri="{BB962C8B-B14F-4D97-AF65-F5344CB8AC3E}">
        <p14:creationId xmlns:p14="http://schemas.microsoft.com/office/powerpoint/2010/main" val="2320299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5CA32F5-5DC0-4B93-BE57-E87F0BECCBA7}"/>
              </a:ext>
            </a:extLst>
          </p:cNvPr>
          <p:cNvSpPr>
            <a:spLocks xmlns:a="http://schemas.openxmlformats.org/drawingml/2006/main" noGrp="1"/>
          </p:cNvSpPr>
          <p:nvPr/>
        </p:nvSpPr>
        <p:spPr>
          <a:xfrm xmlns:a="http://schemas.openxmlformats.org/drawingml/2006/main">
            <a:off x="590550" y="400050"/>
            <a:ext cx="11010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3C"/>
                </a:solidFill>
                <a:latin typeface="Arial"/>
                <a:ea typeface="Arial"/>
                <a:cs typeface="Arial"/>
              </a:defRPr>
            </a:defPPr>
            <a:lvl1pPr>
              <a:buNone/>
              <a:defRPr sz="3300" b="1">
                <a:solidFill>
                  <a:srgbClr val="17343C"/>
                </a:solidFill>
                <a:latin typeface="Arial"/>
                <a:ea typeface="Arial"/>
                <a:cs typeface="Arial"/>
              </a:defRPr>
            </a:lvl1pPr>
            <a:lvl2pPr>
              <a:buNone/>
              <a:defRPr sz="3300" b="1">
                <a:solidFill>
                  <a:srgbClr val="17343C"/>
                </a:solidFill>
                <a:latin typeface="Arial"/>
                <a:ea typeface="Arial"/>
                <a:cs typeface="Arial"/>
              </a:defRPr>
            </a:lvl2pPr>
            <a:lvl3pPr>
              <a:buNone/>
              <a:defRPr sz="3300" b="1">
                <a:solidFill>
                  <a:srgbClr val="17343C"/>
                </a:solidFill>
                <a:latin typeface="Arial"/>
                <a:ea typeface="Arial"/>
                <a:cs typeface="Arial"/>
              </a:defRPr>
            </a:lvl3pPr>
            <a:lvl4pPr>
              <a:buNone/>
              <a:defRPr sz="3300" b="1">
                <a:solidFill>
                  <a:srgbClr val="17343C"/>
                </a:solidFill>
                <a:latin typeface="Arial"/>
                <a:ea typeface="Arial"/>
                <a:cs typeface="Arial"/>
              </a:defRPr>
            </a:lvl4pPr>
            <a:lvl5pPr>
              <a:buNone/>
              <a:defRPr sz="3300" b="1">
                <a:solidFill>
                  <a:srgbClr val="17343C"/>
                </a:solidFill>
                <a:latin typeface="Arial"/>
                <a:ea typeface="Arial"/>
                <a:cs typeface="Arial"/>
              </a:defRPr>
            </a:lvl5pPr>
            <a:lvl6pPr>
              <a:buNone/>
              <a:defRPr sz="3300" b="1">
                <a:solidFill>
                  <a:srgbClr val="17343C"/>
                </a:solidFill>
                <a:latin typeface="Arial"/>
                <a:ea typeface="Arial"/>
                <a:cs typeface="Arial"/>
              </a:defRPr>
            </a:lvl6pPr>
            <a:lvl7pPr>
              <a:buNone/>
              <a:defRPr sz="3300" b="1">
                <a:solidFill>
                  <a:srgbClr val="17343C"/>
                </a:solidFill>
                <a:latin typeface="Arial"/>
                <a:ea typeface="Arial"/>
                <a:cs typeface="Arial"/>
              </a:defRPr>
            </a:lvl7pPr>
            <a:lvl8pPr>
              <a:buNone/>
              <a:defRPr sz="3300" b="1">
                <a:solidFill>
                  <a:srgbClr val="17343C"/>
                </a:solidFill>
                <a:latin typeface="Arial"/>
                <a:ea typeface="Arial"/>
                <a:cs typeface="Arial"/>
              </a:defRPr>
            </a:lvl8pPr>
            <a:lvl9pPr>
              <a:buNone/>
              <a:defRPr sz="3300" b="1">
                <a:solidFill>
                  <a:srgbClr val="17343C"/>
                </a:solidFill>
                <a:latin typeface="Arial"/>
                <a:ea typeface="Arial"/>
                <a:cs typeface="Arial"/>
              </a:defRPr>
            </a:lvl9pPr>
          </a:lstStyle>
          <a:p xmlns:a="http://schemas.openxmlformats.org/drawingml/2006/main">
            <a:pPr>
              <a:buNone/>
              <a:defRPr sz="3300" b="1">
                <a:solidFill>
                  <a:srgbClr val="17343C"/>
                </a:solidFill>
                <a:latin typeface="Arial"/>
                <a:ea typeface="Arial"/>
                <a:cs typeface="Arial"/>
              </a:defRPr>
            </a:pPr>
            <a:r>
              <a:rPr sz="3300" b="1">
                <a:solidFill>
                  <a:srgbClr val="17343C"/>
                </a:solidFill>
                <a:latin typeface="Arial"/>
                <a:ea typeface="Arial"/>
                <a:cs typeface="Arial"/>
              </a:rPr>
              <a:t>Conclusions and the Final stage</a:t>
            </a:r>
          </a:p>
        </p:txBody>
      </p:sp>
      <p:sp>
        <p:nvSpPr>
          <p:cNvPr id="2" name="">
            <a:extLst xmlns:a="http://schemas.openxmlformats.org/drawingml/2006/main">
              <a:ext uri="{FF2B5EF4-FFF2-40B4-BE49-F238E27FC236}">
                <a16:creationId xmlns:a16="http://schemas.microsoft.com/office/drawing/2014/main" id="{499180B7-20E5-46C7-8B13-35C52EBF9C47}"/>
              </a:ext>
            </a:extLst>
          </p:cNvPr>
          <p:cNvSpPr>
            <a:spLocks xmlns:a="http://schemas.openxmlformats.org/drawingml/2006/main" noGrp="1"/>
          </p:cNvSpPr>
          <p:nvPr/>
        </p:nvSpPr>
        <p:spPr>
          <a:xfrm xmlns:a="http://schemas.openxmlformats.org/drawingml/2006/main">
            <a:off x="10763250" y="638175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78792"/>
                </a:solidFill>
                <a:latin typeface="Arial"/>
                <a:ea typeface="Arial"/>
                <a:cs typeface="Arial"/>
              </a:defRPr>
            </a:defPPr>
            <a:lvl1pPr>
              <a:buNone/>
              <a:defRPr sz="1350" b="0">
                <a:solidFill>
                  <a:srgbClr val="778792"/>
                </a:solidFill>
                <a:latin typeface="Arial"/>
                <a:ea typeface="Arial"/>
                <a:cs typeface="Arial"/>
              </a:defRPr>
            </a:lvl1pPr>
            <a:lvl2pPr>
              <a:buNone/>
              <a:defRPr sz="1350" b="0">
                <a:solidFill>
                  <a:srgbClr val="778792"/>
                </a:solidFill>
                <a:latin typeface="Arial"/>
                <a:ea typeface="Arial"/>
                <a:cs typeface="Arial"/>
              </a:defRPr>
            </a:lvl2pPr>
            <a:lvl3pPr>
              <a:buNone/>
              <a:defRPr sz="1350" b="0">
                <a:solidFill>
                  <a:srgbClr val="778792"/>
                </a:solidFill>
                <a:latin typeface="Arial"/>
                <a:ea typeface="Arial"/>
                <a:cs typeface="Arial"/>
              </a:defRPr>
            </a:lvl3pPr>
            <a:lvl4pPr>
              <a:buNone/>
              <a:defRPr sz="1350" b="0">
                <a:solidFill>
                  <a:srgbClr val="778792"/>
                </a:solidFill>
                <a:latin typeface="Arial"/>
                <a:ea typeface="Arial"/>
                <a:cs typeface="Arial"/>
              </a:defRPr>
            </a:lvl4pPr>
            <a:lvl5pPr>
              <a:buNone/>
              <a:defRPr sz="1350" b="0">
                <a:solidFill>
                  <a:srgbClr val="778792"/>
                </a:solidFill>
                <a:latin typeface="Arial"/>
                <a:ea typeface="Arial"/>
                <a:cs typeface="Arial"/>
              </a:defRPr>
            </a:lvl5pPr>
            <a:lvl6pPr>
              <a:buNone/>
              <a:defRPr sz="1350" b="0">
                <a:solidFill>
                  <a:srgbClr val="778792"/>
                </a:solidFill>
                <a:latin typeface="Arial"/>
                <a:ea typeface="Arial"/>
                <a:cs typeface="Arial"/>
              </a:defRPr>
            </a:lvl6pPr>
            <a:lvl7pPr>
              <a:buNone/>
              <a:defRPr sz="1350" b="0">
                <a:solidFill>
                  <a:srgbClr val="778792"/>
                </a:solidFill>
                <a:latin typeface="Arial"/>
                <a:ea typeface="Arial"/>
                <a:cs typeface="Arial"/>
              </a:defRPr>
            </a:lvl7pPr>
            <a:lvl8pPr>
              <a:buNone/>
              <a:defRPr sz="1350" b="0">
                <a:solidFill>
                  <a:srgbClr val="778792"/>
                </a:solidFill>
                <a:latin typeface="Arial"/>
                <a:ea typeface="Arial"/>
                <a:cs typeface="Arial"/>
              </a:defRPr>
            </a:lvl8pPr>
            <a:lvl9pPr>
              <a:buNone/>
              <a:defRPr sz="1350" b="0">
                <a:solidFill>
                  <a:srgbClr val="778792"/>
                </a:solidFill>
                <a:latin typeface="Arial"/>
                <a:ea typeface="Arial"/>
                <a:cs typeface="Arial"/>
              </a:defRPr>
            </a:lvl9pPr>
          </a:lstStyle>
          <a:p xmlns:a="http://schemas.openxmlformats.org/drawingml/2006/main">
            <a:pPr>
              <a:buNone/>
              <a:defRPr sz="1350" b="0">
                <a:solidFill>
                  <a:srgbClr val="778792"/>
                </a:solidFill>
                <a:latin typeface="Arial"/>
                <a:ea typeface="Arial"/>
                <a:cs typeface="Arial"/>
              </a:defRPr>
            </a:pPr>
            <a:r>
              <a:rPr sz="1350" b="0">
                <a:solidFill>
                  <a:srgbClr val="778792"/>
                </a:solidFill>
                <a:latin typeface="Arial"/>
                <a:ea typeface="Arial"/>
                <a:cs typeface="Arial"/>
              </a:rPr>
              <a:t>09 / 09</a:t>
            </a:r>
          </a:p>
        </p:txBody>
      </p:sp>
      <p:sp>
        <p:nvSpPr>
          <p:cNvPr id="3" name="">
            <a:extLst xmlns:a="http://schemas.openxmlformats.org/drawingml/2006/main">
              <a:ext uri="{FF2B5EF4-FFF2-40B4-BE49-F238E27FC236}">
                <a16:creationId xmlns:a16="http://schemas.microsoft.com/office/drawing/2014/main" id="{BCC4CFD9-682D-45F3-87B8-690C20E5F2A1}"/>
              </a:ext>
            </a:extLst>
          </p:cNvPr>
          <p:cNvSpPr>
            <a:spLocks xmlns:a="http://schemas.openxmlformats.org/drawingml/2006/main" noGrp="1"/>
          </p:cNvSpPr>
          <p:nvPr/>
        </p:nvSpPr>
        <p:spPr>
          <a:xfrm xmlns:a="http://schemas.openxmlformats.org/drawingml/2006/main">
            <a:off x="714375" y="1571625"/>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6B68"/>
                </a:solidFill>
                <a:latin typeface="Arial"/>
                <a:ea typeface="Arial"/>
                <a:cs typeface="Arial"/>
              </a:defRPr>
            </a:defPPr>
            <a:lvl1pPr>
              <a:buNone/>
              <a:defRPr sz="3225" b="1">
                <a:solidFill>
                  <a:srgbClr val="176B68"/>
                </a:solidFill>
                <a:latin typeface="Arial"/>
                <a:ea typeface="Arial"/>
                <a:cs typeface="Arial"/>
              </a:defRPr>
            </a:lvl1pPr>
            <a:lvl2pPr>
              <a:buNone/>
              <a:defRPr sz="3225" b="1">
                <a:solidFill>
                  <a:srgbClr val="176B68"/>
                </a:solidFill>
                <a:latin typeface="Arial"/>
                <a:ea typeface="Arial"/>
                <a:cs typeface="Arial"/>
              </a:defRPr>
            </a:lvl2pPr>
            <a:lvl3pPr>
              <a:buNone/>
              <a:defRPr sz="3225" b="1">
                <a:solidFill>
                  <a:srgbClr val="176B68"/>
                </a:solidFill>
                <a:latin typeface="Arial"/>
                <a:ea typeface="Arial"/>
                <a:cs typeface="Arial"/>
              </a:defRPr>
            </a:lvl3pPr>
            <a:lvl4pPr>
              <a:buNone/>
              <a:defRPr sz="3225" b="1">
                <a:solidFill>
                  <a:srgbClr val="176B68"/>
                </a:solidFill>
                <a:latin typeface="Arial"/>
                <a:ea typeface="Arial"/>
                <a:cs typeface="Arial"/>
              </a:defRPr>
            </a:lvl4pPr>
            <a:lvl5pPr>
              <a:buNone/>
              <a:defRPr sz="3225" b="1">
                <a:solidFill>
                  <a:srgbClr val="176B68"/>
                </a:solidFill>
                <a:latin typeface="Arial"/>
                <a:ea typeface="Arial"/>
                <a:cs typeface="Arial"/>
              </a:defRPr>
            </a:lvl5pPr>
            <a:lvl6pPr>
              <a:buNone/>
              <a:defRPr sz="3225" b="1">
                <a:solidFill>
                  <a:srgbClr val="176B68"/>
                </a:solidFill>
                <a:latin typeface="Arial"/>
                <a:ea typeface="Arial"/>
                <a:cs typeface="Arial"/>
              </a:defRPr>
            </a:lvl6pPr>
            <a:lvl7pPr>
              <a:buNone/>
              <a:defRPr sz="3225" b="1">
                <a:solidFill>
                  <a:srgbClr val="176B68"/>
                </a:solidFill>
                <a:latin typeface="Arial"/>
                <a:ea typeface="Arial"/>
                <a:cs typeface="Arial"/>
              </a:defRPr>
            </a:lvl7pPr>
            <a:lvl8pPr>
              <a:buNone/>
              <a:defRPr sz="3225" b="1">
                <a:solidFill>
                  <a:srgbClr val="176B68"/>
                </a:solidFill>
                <a:latin typeface="Arial"/>
                <a:ea typeface="Arial"/>
                <a:cs typeface="Arial"/>
              </a:defRPr>
            </a:lvl8pPr>
            <a:lvl9pPr>
              <a:buNone/>
              <a:defRPr sz="3225" b="1">
                <a:solidFill>
                  <a:srgbClr val="176B68"/>
                </a:solidFill>
                <a:latin typeface="Arial"/>
                <a:ea typeface="Arial"/>
                <a:cs typeface="Arial"/>
              </a:defRPr>
            </a:lvl9pPr>
          </a:lstStyle>
          <a:p xmlns:a="http://schemas.openxmlformats.org/drawingml/2006/main">
            <a:pPr>
              <a:buNone/>
              <a:defRPr sz="3225" b="1">
                <a:solidFill>
                  <a:srgbClr val="176B68"/>
                </a:solidFill>
                <a:latin typeface="Arial"/>
                <a:ea typeface="Arial"/>
                <a:cs typeface="Arial"/>
              </a:defRPr>
            </a:pPr>
            <a:r>
              <a:rPr sz="3225" b="1">
                <a:solidFill>
                  <a:srgbClr val="176B68"/>
                </a:solidFill>
                <a:latin typeface="Arial"/>
                <a:ea typeface="Arial"/>
                <a:cs typeface="Arial"/>
              </a:rPr>
              <a:t>10.26 h average test error</a:t>
            </a:r>
          </a:p>
          <a:p xmlns:a="http://schemas.openxmlformats.org/drawingml/2006/main">
            <a:pPr>
              <a:buNone/>
              <a:defRPr sz="3225" b="1">
                <a:solidFill>
                  <a:srgbClr val="176B68"/>
                </a:solidFill>
                <a:latin typeface="Arial"/>
                <a:ea typeface="Arial"/>
                <a:cs typeface="Arial"/>
              </a:defRPr>
            </a:pPr>
            <a:r>
              <a:rPr sz="3225" b="1">
                <a:solidFill>
                  <a:srgbClr val="176B68"/>
                </a:solidFill>
                <a:latin typeface="Arial"/>
                <a:ea typeface="Arial"/>
                <a:cs typeface="Arial"/>
              </a:rPr>
              <a:t>21.2% lower than the median baseline</a:t>
            </a:r>
          </a:p>
        </p:txBody>
      </p:sp>
      <p:sp>
        <p:nvSpPr>
          <p:cNvPr id="4" name="">
            <a:extLst xmlns:a="http://schemas.openxmlformats.org/drawingml/2006/main">
              <a:ext uri="{FF2B5EF4-FFF2-40B4-BE49-F238E27FC236}">
                <a16:creationId xmlns:a16="http://schemas.microsoft.com/office/drawing/2014/main" id="{372007A2-785B-407A-BFEF-AC03453B8C8B}"/>
              </a:ext>
            </a:extLst>
          </p:cNvPr>
          <p:cNvSpPr>
            <a:spLocks xmlns:a="http://schemas.openxmlformats.org/drawingml/2006/main" noGrp="1"/>
          </p:cNvSpPr>
          <p:nvPr/>
        </p:nvSpPr>
        <p:spPr>
          <a:xfrm xmlns:a="http://schemas.openxmlformats.org/drawingml/2006/main">
            <a:off x="714375" y="32861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43C"/>
                </a:solidFill>
                <a:latin typeface="Arial"/>
                <a:ea typeface="Arial"/>
                <a:cs typeface="Arial"/>
              </a:defRPr>
            </a:defPPr>
            <a:lvl1pPr>
              <a:buNone/>
              <a:defRPr sz="2325" b="0">
                <a:solidFill>
                  <a:srgbClr val="17343C"/>
                </a:solidFill>
                <a:latin typeface="Arial"/>
                <a:ea typeface="Arial"/>
                <a:cs typeface="Arial"/>
              </a:defRPr>
            </a:lvl1pPr>
            <a:lvl2pPr>
              <a:buNone/>
              <a:defRPr sz="2325" b="0">
                <a:solidFill>
                  <a:srgbClr val="17343C"/>
                </a:solidFill>
                <a:latin typeface="Arial"/>
                <a:ea typeface="Arial"/>
                <a:cs typeface="Arial"/>
              </a:defRPr>
            </a:lvl2pPr>
            <a:lvl3pPr>
              <a:buNone/>
              <a:defRPr sz="2325" b="0">
                <a:solidFill>
                  <a:srgbClr val="17343C"/>
                </a:solidFill>
                <a:latin typeface="Arial"/>
                <a:ea typeface="Arial"/>
                <a:cs typeface="Arial"/>
              </a:defRPr>
            </a:lvl3pPr>
            <a:lvl4pPr>
              <a:buNone/>
              <a:defRPr sz="2325" b="0">
                <a:solidFill>
                  <a:srgbClr val="17343C"/>
                </a:solidFill>
                <a:latin typeface="Arial"/>
                <a:ea typeface="Arial"/>
                <a:cs typeface="Arial"/>
              </a:defRPr>
            </a:lvl4pPr>
            <a:lvl5pPr>
              <a:buNone/>
              <a:defRPr sz="2325" b="0">
                <a:solidFill>
                  <a:srgbClr val="17343C"/>
                </a:solidFill>
                <a:latin typeface="Arial"/>
                <a:ea typeface="Arial"/>
                <a:cs typeface="Arial"/>
              </a:defRPr>
            </a:lvl5pPr>
            <a:lvl6pPr>
              <a:buNone/>
              <a:defRPr sz="2325" b="0">
                <a:solidFill>
                  <a:srgbClr val="17343C"/>
                </a:solidFill>
                <a:latin typeface="Arial"/>
                <a:ea typeface="Arial"/>
                <a:cs typeface="Arial"/>
              </a:defRPr>
            </a:lvl6pPr>
            <a:lvl7pPr>
              <a:buNone/>
              <a:defRPr sz="2325" b="0">
                <a:solidFill>
                  <a:srgbClr val="17343C"/>
                </a:solidFill>
                <a:latin typeface="Arial"/>
                <a:ea typeface="Arial"/>
                <a:cs typeface="Arial"/>
              </a:defRPr>
            </a:lvl7pPr>
            <a:lvl8pPr>
              <a:buNone/>
              <a:defRPr sz="2325" b="0">
                <a:solidFill>
                  <a:srgbClr val="17343C"/>
                </a:solidFill>
                <a:latin typeface="Arial"/>
                <a:ea typeface="Arial"/>
                <a:cs typeface="Arial"/>
              </a:defRPr>
            </a:lvl8pPr>
            <a:lvl9pPr>
              <a:buNone/>
              <a:defRPr sz="2325" b="0">
                <a:solidFill>
                  <a:srgbClr val="17343C"/>
                </a:solidFill>
                <a:latin typeface="Arial"/>
                <a:ea typeface="Arial"/>
                <a:cs typeface="Arial"/>
              </a:defRPr>
            </a:lvl9pPr>
          </a:lstStyle>
          <a:p xmlns:a="http://schemas.openxmlformats.org/drawingml/2006/main">
            <a:pPr>
              <a:buNone/>
              <a:defRPr sz="2325" b="0">
                <a:solidFill>
                  <a:srgbClr val="17343C"/>
                </a:solidFill>
                <a:latin typeface="Arial"/>
                <a:ea typeface="Arial"/>
                <a:cs typeface="Arial"/>
              </a:defRPr>
            </a:pPr>
            <a:r>
              <a:rPr sz="2325" b="0">
                <a:solidFill>
                  <a:srgbClr val="17343C"/>
                </a:solidFill>
                <a:latin typeface="Arial"/>
                <a:ea typeface="Arial"/>
                <a:cs typeface="Arial"/>
              </a:rPr>
              <a:t>The endterm adds real metadata, tuned ensembles, PCA and clustering, and a neural network.</a:t>
            </a:r>
          </a:p>
        </p:txBody>
      </p:sp>
      <p:sp>
        <p:nvSpPr>
          <p:cNvPr id="5" name="">
            <a:extLst xmlns:a="http://schemas.openxmlformats.org/drawingml/2006/main">
              <a:ext uri="{FF2B5EF4-FFF2-40B4-BE49-F238E27FC236}">
                <a16:creationId xmlns:a16="http://schemas.microsoft.com/office/drawing/2014/main" id="{6B281B1A-C718-4892-AA23-AF5B65A3FE72}"/>
              </a:ext>
            </a:extLst>
          </p:cNvPr>
          <p:cNvSpPr>
            <a:spLocks xmlns:a="http://schemas.openxmlformats.org/drawingml/2006/main" noGrp="1"/>
          </p:cNvSpPr>
          <p:nvPr/>
        </p:nvSpPr>
        <p:spPr>
          <a:xfrm xmlns:a="http://schemas.openxmlformats.org/drawingml/2006/main">
            <a:off x="714375" y="43815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3C"/>
                </a:solidFill>
                <a:latin typeface="Arial"/>
                <a:ea typeface="Arial"/>
                <a:cs typeface="Arial"/>
              </a:defRPr>
            </a:defPPr>
            <a:lvl1pPr>
              <a:buNone/>
              <a:defRPr sz="2100" b="0">
                <a:solidFill>
                  <a:srgbClr val="17343C"/>
                </a:solidFill>
                <a:latin typeface="Arial"/>
                <a:ea typeface="Arial"/>
                <a:cs typeface="Arial"/>
              </a:defRPr>
            </a:lvl1pPr>
            <a:lvl2pPr>
              <a:buNone/>
              <a:defRPr sz="2100" b="0">
                <a:solidFill>
                  <a:srgbClr val="17343C"/>
                </a:solidFill>
                <a:latin typeface="Arial"/>
                <a:ea typeface="Arial"/>
                <a:cs typeface="Arial"/>
              </a:defRPr>
            </a:lvl2pPr>
            <a:lvl3pPr>
              <a:buNone/>
              <a:defRPr sz="2100" b="0">
                <a:solidFill>
                  <a:srgbClr val="17343C"/>
                </a:solidFill>
                <a:latin typeface="Arial"/>
                <a:ea typeface="Arial"/>
                <a:cs typeface="Arial"/>
              </a:defRPr>
            </a:lvl3pPr>
            <a:lvl4pPr>
              <a:buNone/>
              <a:defRPr sz="2100" b="0">
                <a:solidFill>
                  <a:srgbClr val="17343C"/>
                </a:solidFill>
                <a:latin typeface="Arial"/>
                <a:ea typeface="Arial"/>
                <a:cs typeface="Arial"/>
              </a:defRPr>
            </a:lvl4pPr>
            <a:lvl5pPr>
              <a:buNone/>
              <a:defRPr sz="2100" b="0">
                <a:solidFill>
                  <a:srgbClr val="17343C"/>
                </a:solidFill>
                <a:latin typeface="Arial"/>
                <a:ea typeface="Arial"/>
                <a:cs typeface="Arial"/>
              </a:defRPr>
            </a:lvl5pPr>
            <a:lvl6pPr>
              <a:buNone/>
              <a:defRPr sz="2100" b="0">
                <a:solidFill>
                  <a:srgbClr val="17343C"/>
                </a:solidFill>
                <a:latin typeface="Arial"/>
                <a:ea typeface="Arial"/>
                <a:cs typeface="Arial"/>
              </a:defRPr>
            </a:lvl6pPr>
            <a:lvl7pPr>
              <a:buNone/>
              <a:defRPr sz="2100" b="0">
                <a:solidFill>
                  <a:srgbClr val="17343C"/>
                </a:solidFill>
                <a:latin typeface="Arial"/>
                <a:ea typeface="Arial"/>
                <a:cs typeface="Arial"/>
              </a:defRPr>
            </a:lvl7pPr>
            <a:lvl8pPr>
              <a:buNone/>
              <a:defRPr sz="2100" b="0">
                <a:solidFill>
                  <a:srgbClr val="17343C"/>
                </a:solidFill>
                <a:latin typeface="Arial"/>
                <a:ea typeface="Arial"/>
                <a:cs typeface="Arial"/>
              </a:defRPr>
            </a:lvl8pPr>
            <a:lvl9pPr>
              <a:buNone/>
              <a:defRPr sz="2100" b="0">
                <a:solidFill>
                  <a:srgbClr val="17343C"/>
                </a:solidFill>
                <a:latin typeface="Arial"/>
                <a:ea typeface="Arial"/>
                <a:cs typeface="Arial"/>
              </a:defRPr>
            </a:lvl9pPr>
          </a:lstStyle>
          <a:p xmlns:a="http://schemas.openxmlformats.org/drawingml/2006/main">
            <a:pPr>
              <a:buNone/>
              <a:defRPr sz="2100" b="0">
                <a:solidFill>
                  <a:srgbClr val="17343C"/>
                </a:solidFill>
                <a:latin typeface="Arial"/>
                <a:ea typeface="Arial"/>
                <a:cs typeface="Arial"/>
              </a:defRPr>
            </a:pPr>
            <a:r>
              <a:rPr sz="2100" b="0">
                <a:solidFill>
                  <a:srgbClr val="17343C"/>
                </a:solidFill>
                <a:latin typeface="Arial"/>
                <a:ea typeface="Arial"/>
                <a:cs typeface="Arial"/>
              </a:rPr>
              <a:t>Limits: uncertain long-game labels, incomplete Steam coverage, current metadata, and a previously observed test set.</a:t>
            </a:r>
          </a:p>
        </p:txBody>
      </p:sp>
      <p:sp>
        <p:nvSpPr>
          <p:cNvPr id="6" name="">
            <a:extLst xmlns:a="http://schemas.openxmlformats.org/drawingml/2006/main">
              <a:ext uri="{FF2B5EF4-FFF2-40B4-BE49-F238E27FC236}">
                <a16:creationId xmlns:a16="http://schemas.microsoft.com/office/drawing/2014/main" id="{C080192D-CD19-422C-BDF7-3E7C44D584CA}"/>
              </a:ext>
            </a:extLst>
          </p:cNvPr>
          <p:cNvSpPr>
            <a:spLocks xmlns:a="http://schemas.openxmlformats.org/drawingml/2006/main" noGrp="1"/>
          </p:cNvSpPr>
          <p:nvPr/>
        </p:nvSpPr>
        <p:spPr>
          <a:xfrm xmlns:a="http://schemas.openxmlformats.org/drawingml/2006/main">
            <a:off x="714375" y="55721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66A3D"/>
                </a:solidFill>
                <a:latin typeface="Arial"/>
                <a:ea typeface="Arial"/>
                <a:cs typeface="Arial"/>
              </a:defRPr>
            </a:defPPr>
            <a:lvl1pPr>
              <a:buNone/>
              <a:defRPr sz="2025" b="1">
                <a:solidFill>
                  <a:srgbClr val="B66A3D"/>
                </a:solidFill>
                <a:latin typeface="Arial"/>
                <a:ea typeface="Arial"/>
                <a:cs typeface="Arial"/>
              </a:defRPr>
            </a:lvl1pPr>
            <a:lvl2pPr>
              <a:buNone/>
              <a:defRPr sz="2025" b="1">
                <a:solidFill>
                  <a:srgbClr val="B66A3D"/>
                </a:solidFill>
                <a:latin typeface="Arial"/>
                <a:ea typeface="Arial"/>
                <a:cs typeface="Arial"/>
              </a:defRPr>
            </a:lvl2pPr>
            <a:lvl3pPr>
              <a:buNone/>
              <a:defRPr sz="2025" b="1">
                <a:solidFill>
                  <a:srgbClr val="B66A3D"/>
                </a:solidFill>
                <a:latin typeface="Arial"/>
                <a:ea typeface="Arial"/>
                <a:cs typeface="Arial"/>
              </a:defRPr>
            </a:lvl3pPr>
            <a:lvl4pPr>
              <a:buNone/>
              <a:defRPr sz="2025" b="1">
                <a:solidFill>
                  <a:srgbClr val="B66A3D"/>
                </a:solidFill>
                <a:latin typeface="Arial"/>
                <a:ea typeface="Arial"/>
                <a:cs typeface="Arial"/>
              </a:defRPr>
            </a:lvl4pPr>
            <a:lvl5pPr>
              <a:buNone/>
              <a:defRPr sz="2025" b="1">
                <a:solidFill>
                  <a:srgbClr val="B66A3D"/>
                </a:solidFill>
                <a:latin typeface="Arial"/>
                <a:ea typeface="Arial"/>
                <a:cs typeface="Arial"/>
              </a:defRPr>
            </a:lvl5pPr>
            <a:lvl6pPr>
              <a:buNone/>
              <a:defRPr sz="2025" b="1">
                <a:solidFill>
                  <a:srgbClr val="B66A3D"/>
                </a:solidFill>
                <a:latin typeface="Arial"/>
                <a:ea typeface="Arial"/>
                <a:cs typeface="Arial"/>
              </a:defRPr>
            </a:lvl6pPr>
            <a:lvl7pPr>
              <a:buNone/>
              <a:defRPr sz="2025" b="1">
                <a:solidFill>
                  <a:srgbClr val="B66A3D"/>
                </a:solidFill>
                <a:latin typeface="Arial"/>
                <a:ea typeface="Arial"/>
                <a:cs typeface="Arial"/>
              </a:defRPr>
            </a:lvl7pPr>
            <a:lvl8pPr>
              <a:buNone/>
              <a:defRPr sz="2025" b="1">
                <a:solidFill>
                  <a:srgbClr val="B66A3D"/>
                </a:solidFill>
                <a:latin typeface="Arial"/>
                <a:ea typeface="Arial"/>
                <a:cs typeface="Arial"/>
              </a:defRPr>
            </a:lvl8pPr>
            <a:lvl9pPr>
              <a:buNone/>
              <a:defRPr sz="2025" b="1">
                <a:solidFill>
                  <a:srgbClr val="B66A3D"/>
                </a:solidFill>
                <a:latin typeface="Arial"/>
                <a:ea typeface="Arial"/>
                <a:cs typeface="Arial"/>
              </a:defRPr>
            </a:lvl9pPr>
          </a:lstStyle>
          <a:p xmlns:a="http://schemas.openxmlformats.org/drawingml/2006/main">
            <a:pPr>
              <a:buNone/>
              <a:defRPr sz="2025" b="1">
                <a:solidFill>
                  <a:srgbClr val="B66A3D"/>
                </a:solidFill>
                <a:latin typeface="Arial"/>
                <a:ea typeface="Arial"/>
                <a:cs typeface="Arial"/>
              </a:defRPr>
            </a:pPr>
            <a:r>
              <a:rPr sz="2025" b="1">
                <a:solidFill>
                  <a:srgbClr val="B66A3D"/>
                </a:solidFill>
                <a:latin typeface="Arial"/>
                <a:ea typeface="Arial"/>
                <a:cs typeface="Arial"/>
              </a:rPr>
              <a:t>Final: description features, a local prediction app, and stronger independent validation.</a:t>
            </a:r>
          </a:p>
        </p:txBody>
      </p:sp>
    </p:spTree>
    <p:extLst>
      <p:ext uri="{BB962C8B-B14F-4D97-AF65-F5344CB8AC3E}">
        <p14:creationId xmlns:p14="http://schemas.microsoft.com/office/powerpoint/2010/main" val="4862625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2026-11-01T22:57:21.2560000Z</dcterms:created>
  <dcterms:modified xsi:type="dcterms:W3CDTF">2026-11-01T22:57:21.2560000Z</dcterms:modified>
</coreProperties>
</file>